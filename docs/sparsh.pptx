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62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2960" y="1965960"/>
            <a:ext cx="777240" cy="777240"/>
          </a:xfrm>
          <a:prstGeom prst="rect">
            <a:avLst/>
          </a:prstGeom>
          <a:solidFill>
            <a:srgbClr val="D62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171616"/>
                </a:solidFill>
                <a:latin typeface="Inter"/>
              </a:rPr>
              <a:t>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90195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40">
                <a:solidFill>
                  <a:srgbClr val="D62D18"/>
                </a:solidFill>
                <a:latin typeface="Inter"/>
              </a:rPr>
              <a:t>VULNVISTA  •  SECURITY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240280"/>
            <a:ext cx="96926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71616"/>
                </a:solidFill>
                <a:latin typeface="Inter"/>
              </a:rPr>
              <a:t>Detecting Five Web</a:t>
            </a:r>
          </a:p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71616"/>
                </a:solidFill>
                <a:latin typeface="Inter"/>
              </a:rPr>
              <a:t>Vulnerability Classes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429000"/>
            <a:ext cx="9326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5B5754"/>
                </a:solidFill>
                <a:latin typeface="Inter"/>
              </a:rPr>
              <a:t>Evidence-based detector design and implementation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4114800"/>
            <a:ext cx="41148" cy="1417320"/>
          </a:xfrm>
          <a:prstGeom prst="rect">
            <a:avLst/>
          </a:prstGeom>
          <a:solidFill>
            <a:srgbClr val="D62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03120" y="41148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71616"/>
                </a:solidFill>
                <a:latin typeface="Inter"/>
              </a:rPr>
              <a:t>Sparsh Basnet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448056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B5754"/>
                </a:solidFill>
                <a:latin typeface="Inter"/>
              </a:rPr>
              <a:t>Contributor — Detector Engineering, VulnVista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48006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B5754"/>
                </a:solidFill>
                <a:latin typeface="Inter"/>
              </a:rPr>
              <a:t>Advance Project · NIT6150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51206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B5754"/>
                </a:solidFill>
                <a:latin typeface="Inter"/>
              </a:rPr>
              <a:t>September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0" y="5806440"/>
            <a:ext cx="1764792" cy="292608"/>
          </a:xfrm>
          <a:prstGeom prst="rect">
            <a:avLst/>
          </a:prstGeom>
          <a:solidFill>
            <a:srgbClr val="B71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Inter"/>
              </a:rPr>
              <a:t>SQL Injection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39896" y="5806440"/>
            <a:ext cx="2468880" cy="292608"/>
          </a:xfrm>
          <a:prstGeom prst="rect">
            <a:avLst/>
          </a:prstGeom>
          <a:solidFill>
            <a:srgbClr val="D62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Inter"/>
              </a:rPr>
              <a:t>Cross-Site Scripting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5806440"/>
            <a:ext cx="3273552" cy="292608"/>
          </a:xfrm>
          <a:prstGeom prst="rect">
            <a:avLst/>
          </a:prstGeom>
          <a:solidFill>
            <a:srgbClr val="D62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Inter"/>
              </a:rPr>
              <a:t>Broken Access Control / IDOR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74936" y="5806440"/>
            <a:ext cx="859536" cy="292608"/>
          </a:xfrm>
          <a:prstGeom prst="rect">
            <a:avLst/>
          </a:prstGeom>
          <a:solidFill>
            <a:srgbClr val="D62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Inter"/>
              </a:rPr>
              <a:t>SSRF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0" y="6217920"/>
            <a:ext cx="1764792" cy="292608"/>
          </a:xfrm>
          <a:prstGeom prst="rect">
            <a:avLst/>
          </a:prstGeom>
          <a:solidFill>
            <a:srgbClr val="B71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Inter"/>
              </a:rPr>
              <a:t>XXE Injection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D62D18"/>
                </a:solidFill>
                <a:latin typeface="Inter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71616"/>
                </a:solidFill>
                <a:latin typeface="Inter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25296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5B5754"/>
                </a:solidFill>
                <a:latin typeface="Inter"/>
              </a:rPr>
              <a:t>Five detectors, per the project's documented ownership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77724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D62D18"/>
                </a:solidFill>
                <a:latin typeface="Inter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91640"/>
            <a:ext cx="429768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71616"/>
                </a:solidFill>
                <a:latin typeface="Inter"/>
              </a:rPr>
              <a:t>Design Philosophy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691640"/>
            <a:ext cx="576072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5754"/>
                </a:solidFill>
                <a:latin typeface="Inter"/>
              </a:rPr>
              <a:t>Why every detector proves, never assumes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2231136"/>
            <a:ext cx="11109960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2231136"/>
            <a:ext cx="77724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D62D18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231136"/>
            <a:ext cx="429768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71616"/>
                </a:solidFill>
                <a:latin typeface="Inter"/>
              </a:rPr>
              <a:t>Documented Ownership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231136"/>
            <a:ext cx="576072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5754"/>
                </a:solidFill>
                <a:latin typeface="Inter"/>
              </a:rPr>
              <a:t>Confirming the five via the implementation plan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2770632"/>
            <a:ext cx="11109960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2770632"/>
            <a:ext cx="77724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D62D18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770632"/>
            <a:ext cx="429768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71616"/>
                </a:solidFill>
                <a:latin typeface="Inter"/>
              </a:rPr>
              <a:t>SQL Injection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2770632"/>
            <a:ext cx="576072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5754"/>
                </a:solidFill>
                <a:latin typeface="Inter"/>
              </a:rPr>
              <a:t>Error, boolean-blind, and time-blind signals (CWE-89)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3310128"/>
            <a:ext cx="11109960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8640" y="3310128"/>
            <a:ext cx="77724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D62D18"/>
                </a:solidFill>
                <a:latin typeface="Inter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310128"/>
            <a:ext cx="429768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71616"/>
                </a:solidFill>
                <a:latin typeface="Inter"/>
              </a:rPr>
              <a:t>Cross-Site Scripting (XSS)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3310128"/>
            <a:ext cx="576072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5754"/>
                </a:solidFill>
                <a:latin typeface="Inter"/>
              </a:rPr>
              <a:t>Browser-executed DOM proof, not reflection (CWE-79)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3849624"/>
            <a:ext cx="11109960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8640" y="3849624"/>
            <a:ext cx="77724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D62D18"/>
                </a:solidFill>
                <a:latin typeface="Inter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3849624"/>
            <a:ext cx="429768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71616"/>
                </a:solidFill>
                <a:latin typeface="Inter"/>
              </a:rPr>
              <a:t>Broken Access Control / IDOR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3849624"/>
            <a:ext cx="576072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5754"/>
                </a:solidFill>
                <a:latin typeface="Inter"/>
              </a:rPr>
              <a:t>Cross-account object ownership attribution (CWE-639)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" y="4389120"/>
            <a:ext cx="11109960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8640" y="4389120"/>
            <a:ext cx="77724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D62D18"/>
                </a:solidFill>
                <a:latin typeface="Inter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389120"/>
            <a:ext cx="429768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71616"/>
                </a:solidFill>
                <a:latin typeface="Inter"/>
              </a:rPr>
              <a:t>Server-Side Request Forgery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4389120"/>
            <a:ext cx="576072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5754"/>
                </a:solidFill>
                <a:latin typeface="Inter"/>
              </a:rPr>
              <a:t>Out-of-band callback proof (CWE-918)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4928616"/>
            <a:ext cx="11109960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48640" y="4928616"/>
            <a:ext cx="77724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D62D18"/>
                </a:solidFill>
                <a:latin typeface="Inter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4928616"/>
            <a:ext cx="429768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71616"/>
                </a:solidFill>
                <a:latin typeface="Inter"/>
              </a:rPr>
              <a:t>XML External Entity Injection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0" y="4928616"/>
            <a:ext cx="576072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5754"/>
                </a:solidFill>
                <a:latin typeface="Inter"/>
              </a:rPr>
              <a:t>OOB canary + safe file reflection (CWE-611)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640" y="5468112"/>
            <a:ext cx="11109960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48640" y="5468112"/>
            <a:ext cx="77724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D62D18"/>
                </a:solidFill>
                <a:latin typeface="Inter"/>
              </a:rP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5468112"/>
            <a:ext cx="429768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71616"/>
                </a:solidFill>
                <a:latin typeface="Inter"/>
              </a:rPr>
              <a:t>Results &amp; Takeaways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0" y="5468112"/>
            <a:ext cx="576072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5754"/>
                </a:solidFill>
                <a:latin typeface="Inter"/>
              </a:rPr>
              <a:t>Shared architecture and what it demonstrates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60">
                <a:solidFill>
                  <a:srgbClr val="676360"/>
                </a:solidFill>
                <a:latin typeface="Inter"/>
              </a:rPr>
              <a:t>VULNVISTA  |  AUTOMATED WEB VULNERABILITY SCANNER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76360"/>
                </a:solidFill>
                <a:latin typeface="Inter"/>
              </a:rPr>
              <a:t>2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D62D18"/>
                </a:solidFill>
                <a:latin typeface="Inter"/>
              </a:rPr>
              <a:t>DESIGN PHILOSOPHY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71616"/>
                </a:solidFill>
                <a:latin typeface="Inter"/>
              </a:rPr>
              <a:t>Prove It, Don't Assume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25296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5B5754"/>
                </a:solidFill>
                <a:latin typeface="Inter"/>
              </a:rPr>
              <a:t>The methodology shared by every detector in VulnVista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171616"/>
                </a:solidFill>
                <a:latin typeface="Inter"/>
              </a:rPr>
              <a:t>Every VulnVista detector follows the same rule: a finding is only reported when the target is observed actually behaving vulnerably — never inferred from a status code or a guess.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651760"/>
            <a:ext cx="5440680" cy="1691640"/>
          </a:xfrm>
          <a:prstGeom prst="rect">
            <a:avLst/>
          </a:prstGeom>
          <a:solidFill>
            <a:srgbClr val="F7F6F4"/>
          </a:solidFill>
          <a:ln w="1270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2651760"/>
            <a:ext cx="5440680" cy="27940"/>
          </a:xfrm>
          <a:prstGeom prst="rect">
            <a:avLst/>
          </a:prstGeom>
          <a:solidFill>
            <a:srgbClr val="D62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907792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71616"/>
                </a:solidFill>
                <a:latin typeface="Inter"/>
              </a:rPr>
              <a:t>Independent signals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489204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B5754"/>
                </a:solidFill>
                <a:latin typeface="Inter"/>
              </a:rPr>
              <a:t>Two or more unrelated proofs per class (e.g. a SQL error signature plus a boolean/timing differential) so one signal's noise can't create a false positive.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2651760"/>
            <a:ext cx="5440680" cy="1691640"/>
          </a:xfrm>
          <a:prstGeom prst="rect">
            <a:avLst/>
          </a:prstGeom>
          <a:solidFill>
            <a:srgbClr val="F7F6F4"/>
          </a:solidFill>
          <a:ln w="1270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2651760"/>
            <a:ext cx="5440680" cy="27940"/>
          </a:xfrm>
          <a:prstGeom prst="rect">
            <a:avLst/>
          </a:prstGeom>
          <a:solidFill>
            <a:srgbClr val="D62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2907792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71616"/>
                </a:solidFill>
                <a:latin typeface="Inter"/>
              </a:rPr>
              <a:t>Generic-first, lab-aware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319272"/>
            <a:ext cx="489204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B5754"/>
                </a:solidFill>
                <a:latin typeface="Inter"/>
              </a:rPr>
              <a:t>Detection logic is target-agnostic — forms, query strings, and objects are auto-discovered or explicitly configured. Bundled labs (DVWA, Juice Shop) get opt-in presets, never special-cased logic.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526279"/>
            <a:ext cx="5440680" cy="1691640"/>
          </a:xfrm>
          <a:prstGeom prst="rect">
            <a:avLst/>
          </a:prstGeom>
          <a:solidFill>
            <a:srgbClr val="F7F6F4"/>
          </a:solidFill>
          <a:ln w="1270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" y="4526279"/>
            <a:ext cx="5440680" cy="27940"/>
          </a:xfrm>
          <a:prstGeom prst="rect">
            <a:avLst/>
          </a:prstGeom>
          <a:solidFill>
            <a:srgbClr val="D62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4782311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71616"/>
                </a:solidFill>
                <a:latin typeface="Inter"/>
              </a:rPr>
              <a:t>Config always wins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193791"/>
            <a:ext cx="489204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B5754"/>
                </a:solidFill>
                <a:latin typeface="Inter"/>
              </a:rPr>
              <a:t>ScanContext.extra (from Target.scan_config) overrides both generic defaults and lab presets, so any real target can be pointed at explicitly.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79"/>
            <a:ext cx="5440680" cy="1691640"/>
          </a:xfrm>
          <a:prstGeom prst="rect">
            <a:avLst/>
          </a:prstGeom>
          <a:solidFill>
            <a:srgbClr val="F7F6F4"/>
          </a:solidFill>
          <a:ln w="1270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63640" y="4526279"/>
            <a:ext cx="5440680" cy="27940"/>
          </a:xfrm>
          <a:prstGeom prst="rect">
            <a:avLst/>
          </a:prstGeom>
          <a:solidFill>
            <a:srgbClr val="D62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37960" y="4782311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71616"/>
                </a:solidFill>
                <a:latin typeface="Inter"/>
              </a:rPr>
              <a:t>Safety by construction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5193791"/>
            <a:ext cx="489204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B5754"/>
                </a:solidFill>
                <a:latin typeface="Inter"/>
              </a:rPr>
              <a:t>Read-only probes, synthetic accounts, non-destructive payloads, and automatic state restoration (e.g. SSRF's profile-value rollback) keep every check safe to run.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60">
                <a:solidFill>
                  <a:srgbClr val="676360"/>
                </a:solidFill>
                <a:latin typeface="Inter"/>
              </a:rPr>
              <a:t>VULNVISTA  |  AUTOMATED WEB VULNERABILITY SCANNER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76360"/>
                </a:solidFill>
                <a:latin typeface="Inter"/>
              </a:rPr>
              <a:t>3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D62D18"/>
                </a:solidFill>
                <a:latin typeface="Inter"/>
              </a:rPr>
              <a:t>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71616"/>
                </a:solidFill>
                <a:latin typeface="Inter"/>
              </a:rPr>
              <a:t>Confirmed by Git History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25296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5B5754"/>
                </a:solidFill>
                <a:latin typeface="Inter"/>
              </a:rPr>
              <a:t>The five detector features, verified directly from commit history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83080"/>
            <a:ext cx="112014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6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11201400" cy="27940"/>
          </a:xfrm>
          <a:prstGeom prst="rect">
            <a:avLst/>
          </a:prstGeom>
          <a:solidFill>
            <a:srgbClr val="D62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11096"/>
            <a:ext cx="10744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110">
                <a:solidFill>
                  <a:srgbClr val="5B5754"/>
                </a:solidFill>
                <a:latin typeface="Inter"/>
              </a:rPr>
              <a:t>SHELL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2860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300" b="1">
                <a:solidFill>
                  <a:srgbClr val="A61B0D"/>
                </a:solidFill>
                <a:latin typeface="Consolas"/>
              </a:rPr>
              <a:t>$ git --no-pager log --pretty=format:"%h %ad %s" \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171616"/>
                </a:solidFill>
                <a:latin typeface="Consolas"/>
              </a:rPr>
              <a:t>    --date=short -- backend/app/scanners/sql_injection.py \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171616"/>
                </a:solidFill>
                <a:latin typeface="Consolas"/>
              </a:rPr>
              <a:t>    backend/app/scanners/xss.py backend/app/scanners/idor.py \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171616"/>
                </a:solidFill>
                <a:latin typeface="Consolas"/>
              </a:rPr>
              <a:t>    backend/app/scanners/ssrf.py backend/app/scanners/xxe.py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99232"/>
            <a:ext cx="100584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76360"/>
                </a:solidFill>
                <a:latin typeface="Consolas"/>
              </a:rPr>
              <a:t>e707f80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999232"/>
            <a:ext cx="105156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76360"/>
                </a:solidFill>
                <a:latin typeface="Consolas"/>
              </a:rPr>
              <a:t>2026-08-29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999232"/>
            <a:ext cx="905256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fix(scan): scoped runs attack each in-scope path once, not preset endpoints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253435"/>
            <a:ext cx="100584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76360"/>
                </a:solidFill>
                <a:latin typeface="Consolas"/>
              </a:rPr>
              <a:t>8c0af93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253435"/>
            <a:ext cx="105156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76360"/>
                </a:solidFill>
                <a:latin typeface="Consolas"/>
              </a:rPr>
              <a:t>2026-08-29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253435"/>
            <a:ext cx="905256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refactor(scanners): centralize lab presets into a presets/ package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507638"/>
            <a:ext cx="100584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76360"/>
                </a:solidFill>
                <a:latin typeface="Consolas"/>
              </a:rPr>
              <a:t>a180ecf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507638"/>
            <a:ext cx="105156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76360"/>
                </a:solidFill>
                <a:latin typeface="Consolas"/>
              </a:rPr>
              <a:t>2026-08-29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3507638"/>
            <a:ext cx="905256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feat(scan): path discovery and scoped scanning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761841"/>
            <a:ext cx="100584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76360"/>
                </a:solidFill>
                <a:latin typeface="Consolas"/>
              </a:rPr>
              <a:t>7a2051b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761841"/>
            <a:ext cx="105156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76360"/>
                </a:solidFill>
                <a:latin typeface="Consolas"/>
              </a:rPr>
              <a:t>2026-08-17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3761841"/>
            <a:ext cx="905256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refactor: improve code formatting and readability in various files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016044"/>
            <a:ext cx="100584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62D18"/>
                </a:solidFill>
                <a:latin typeface="Consolas"/>
              </a:rPr>
              <a:t>8d2a265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016044"/>
            <a:ext cx="105156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76360"/>
                </a:solidFill>
                <a:latin typeface="Consolas"/>
              </a:rPr>
              <a:t>2026-08-16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4016044"/>
            <a:ext cx="905256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71616"/>
                </a:solidFill>
                <a:latin typeface="Inter"/>
              </a:rPr>
              <a:t>feat: add Broken Access Control / IDOR detector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270247"/>
            <a:ext cx="100584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62D18"/>
                </a:solidFill>
                <a:latin typeface="Consolas"/>
              </a:rPr>
              <a:t>cd83c28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4270247"/>
            <a:ext cx="105156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76360"/>
                </a:solidFill>
                <a:latin typeface="Consolas"/>
              </a:rPr>
              <a:t>2026-08-16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4270247"/>
            <a:ext cx="905256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71616"/>
                </a:solidFill>
                <a:latin typeface="Inter"/>
              </a:rPr>
              <a:t>feat: add SSRF detector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524450"/>
            <a:ext cx="100584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76360"/>
                </a:solidFill>
                <a:latin typeface="Consolas"/>
              </a:rPr>
              <a:t>c7e41df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4524450"/>
            <a:ext cx="105156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76360"/>
                </a:solidFill>
                <a:latin typeface="Consolas"/>
              </a:rPr>
              <a:t>2026-08-16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0" y="4524450"/>
            <a:ext cx="905256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feat: add Juice Shop preset for XSS detection and update related tests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778653"/>
            <a:ext cx="100584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76360"/>
                </a:solidFill>
                <a:latin typeface="Consolas"/>
              </a:rPr>
              <a:t>e6928ad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4778653"/>
            <a:ext cx="105156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76360"/>
                </a:solidFill>
                <a:latin typeface="Consolas"/>
              </a:rPr>
              <a:t>2026-08-16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0320" y="4778653"/>
            <a:ext cx="905256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Merge branch 'feat/detector/sql-injection'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032856"/>
            <a:ext cx="100584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62D18"/>
                </a:solidFill>
                <a:latin typeface="Consolas"/>
              </a:rPr>
              <a:t>c4176fb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08760" y="5032856"/>
            <a:ext cx="105156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76360"/>
                </a:solidFill>
                <a:latin typeface="Consolas"/>
              </a:rPr>
              <a:t>2026-08-16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60320" y="5032856"/>
            <a:ext cx="905256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71616"/>
                </a:solidFill>
                <a:latin typeface="Inter"/>
              </a:rPr>
              <a:t>feat: add Cross-Site Scripting (XSS) detector with browser-side validation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5287059"/>
            <a:ext cx="100584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76360"/>
                </a:solidFill>
                <a:latin typeface="Consolas"/>
              </a:rPr>
              <a:t>7695a9e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08760" y="5287059"/>
            <a:ext cx="105156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76360"/>
                </a:solidFill>
                <a:latin typeface="Consolas"/>
              </a:rPr>
              <a:t>2026-08-16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60320" y="5287059"/>
            <a:ext cx="905256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Refactor styles and components for Evidence and Scans pages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5541262"/>
            <a:ext cx="100584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76360"/>
                </a:solidFill>
                <a:latin typeface="Consolas"/>
              </a:rPr>
              <a:t>6d23f6b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08760" y="5541262"/>
            <a:ext cx="105156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76360"/>
                </a:solidFill>
                <a:latin typeface="Consolas"/>
              </a:rPr>
              <a:t>2026-08-16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60320" y="5541262"/>
            <a:ext cx="905256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feat: enhance XXE detector to confirm local file reflection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5795465"/>
            <a:ext cx="100584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62D18"/>
                </a:solidFill>
                <a:latin typeface="Consolas"/>
              </a:rPr>
              <a:t>ff6d268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08760" y="5795465"/>
            <a:ext cx="105156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76360"/>
                </a:solidFill>
                <a:latin typeface="Consolas"/>
              </a:rPr>
              <a:t>2026-08-16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60320" y="5795465"/>
            <a:ext cx="905256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71616"/>
                </a:solidFill>
                <a:latin typeface="Inter"/>
              </a:rPr>
              <a:t>feat: add XML External Entity (XXE) injection detector and tests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049668"/>
            <a:ext cx="100584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62D18"/>
                </a:solidFill>
                <a:latin typeface="Consolas"/>
              </a:rPr>
              <a:t>01f9832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08760" y="6049668"/>
            <a:ext cx="105156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76360"/>
                </a:solidFill>
                <a:latin typeface="Consolas"/>
              </a:rPr>
              <a:t>2026-08-15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60320" y="6049668"/>
            <a:ext cx="9052560" cy="2542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71616"/>
                </a:solidFill>
                <a:latin typeface="Inter"/>
              </a:rPr>
              <a:t>feat: add SQL injection detector and integrate into scanning profiles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06247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D62D18"/>
                </a:solidFill>
                <a:latin typeface="Inter"/>
              </a:rPr>
              <a:t>Highlighted rows = the five feature commits this deck covers, recorded under the shared team git identity (sunil-9).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60">
                <a:solidFill>
                  <a:srgbClr val="676360"/>
                </a:solidFill>
                <a:latin typeface="Inter"/>
              </a:rPr>
              <a:t>VULNVISTA  |  AUTOMATED WEB VULNERABILITY SCANNER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76360"/>
                </a:solidFill>
                <a:latin typeface="Inter"/>
              </a:rPr>
              <a:t>4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D62D18"/>
                </a:solidFill>
                <a:latin typeface="Inter"/>
              </a:rPr>
              <a:t>VULNERABILITY 1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71616"/>
                </a:solidFill>
                <a:latin typeface="Inter"/>
              </a:rPr>
              <a:t>SQL Injection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659636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6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171616"/>
                </a:solidFill>
                <a:latin typeface="Inter"/>
              </a:rPr>
              <a:t>CWE: CWE-89</a:t>
            </a:r>
          </a:p>
        </p:txBody>
      </p:sp>
      <p:sp>
        <p:nvSpPr>
          <p:cNvPr id="6" name="Rectangle 5"/>
          <p:cNvSpPr/>
          <p:nvPr/>
        </p:nvSpPr>
        <p:spPr>
          <a:xfrm>
            <a:off x="2327148" y="1298448"/>
            <a:ext cx="20802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6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171616"/>
                </a:solidFill>
                <a:latin typeface="Inter"/>
              </a:rPr>
              <a:t>OWASP: A03:2021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298448"/>
            <a:ext cx="2395728" cy="292608"/>
          </a:xfrm>
          <a:prstGeom prst="rect">
            <a:avLst/>
          </a:prstGeom>
          <a:solidFill>
            <a:srgbClr val="B71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Inter"/>
              </a:rPr>
              <a:t>SEVERITY: CRITICAL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298448"/>
            <a:ext cx="1449324" cy="292608"/>
          </a:xfrm>
          <a:prstGeom prst="rect">
            <a:avLst/>
          </a:prstGeom>
          <a:solidFill>
            <a:srgbClr val="B71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Inter"/>
              </a:rPr>
              <a:t>CVSS: 9.8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71616"/>
                </a:solidFill>
                <a:latin typeface="Inter"/>
              </a:rPr>
              <a:t>Proves the target's query behaviour actually changes under attacker-controlled input — never assumed from a single response. Three independent, non-destructive signals are layered, matching how a manual SQLi assessment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060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20">
                <a:solidFill>
                  <a:srgbClr val="D62D18"/>
                </a:solidFill>
                <a:latin typeface="Inter"/>
              </a:rPr>
              <a:t>DETECTION TECHNIQUE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1115568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50" b="1">
                <a:solidFill>
                  <a:srgbClr val="D62D18"/>
                </a:solidFill>
                <a:latin typeface="Inter"/>
              </a:rPr>
              <a:t>▸  Error-based</a:t>
            </a:r>
            <a:r>
              <a:rPr sz="1350">
                <a:solidFill>
                  <a:srgbClr val="171616"/>
                </a:solidFill>
                <a:latin typeface="Inter"/>
              </a:rPr>
              <a:t>  inject a lone quote character and look for a database error signature (MySQL/PostgreSQL/MSSQL/SQLite/Oracle) absent from the baseline — a broken query string leaking a driver error proves unescaped input reached the parser.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50" b="1">
                <a:solidFill>
                  <a:srgbClr val="D62D18"/>
                </a:solidFill>
                <a:latin typeface="Inter"/>
              </a:rPr>
              <a:t>▸  Boolean-based (blind)</a:t>
            </a:r>
            <a:r>
              <a:rPr sz="1350">
                <a:solidFill>
                  <a:srgbClr val="171616"/>
                </a:solidFill>
                <a:latin typeface="Inter"/>
              </a:rPr>
              <a:t>  inject an always-true (AND '1'='1') and an always-false (AND '1'='2') condition; the true response should resemble the baseline, the false one should diverge — proving the input controls the result set.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50" b="1">
                <a:solidFill>
                  <a:srgbClr val="D62D18"/>
                </a:solidFill>
                <a:latin typeface="Inter"/>
              </a:rPr>
              <a:t>▸  Time-based (blind)</a:t>
            </a:r>
            <a:r>
              <a:rPr sz="1350">
                <a:solidFill>
                  <a:srgbClr val="171616"/>
                </a:solidFill>
                <a:latin typeface="Inter"/>
              </a:rPr>
              <a:t>  inject a conditional sleep across MySQL/PostgreSQL/MSSQL dialects, using AND (not OR) so the delay is bounded to matching rows rather than multiplying per row scanned.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50" b="1">
                <a:solidFill>
                  <a:srgbClr val="D62D18"/>
                </a:solidFill>
                <a:latin typeface="Inter"/>
              </a:rPr>
              <a:t>▸  Optional ZAP cross-check</a:t>
            </a:r>
            <a:r>
              <a:rPr sz="1350">
                <a:solidFill>
                  <a:srgbClr val="171616"/>
                </a:solidFill>
                <a:latin typeface="Inter"/>
              </a:rPr>
              <a:t>  when enabled, OWASP ZAP's independent active scanner corroborates (or is reported as disagreeing with) the manual verdict — manual evidence always stands on its own.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60">
                <a:solidFill>
                  <a:srgbClr val="676360"/>
                </a:solidFill>
                <a:latin typeface="Inter"/>
              </a:rPr>
              <a:t>VULNVISTA  |  AUTOMATED WEB VULNERABILITY SCANNER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76360"/>
                </a:solidFill>
                <a:latin typeface="Inter"/>
              </a:rPr>
              <a:t>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D62D18"/>
                </a:solidFill>
                <a:latin typeface="Inter"/>
              </a:rPr>
              <a:t>VULNERABILITY 1 OF 5 —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71616"/>
                </a:solidFill>
                <a:latin typeface="Inter"/>
              </a:rPr>
              <a:t>SQL Injection — Code &amp;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25296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5B5754"/>
                </a:solidFill>
                <a:latin typeface="Inter"/>
              </a:rPr>
              <a:t>backend/app/scanners/sql_injection.py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83080"/>
            <a:ext cx="66751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6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6675120" cy="27940"/>
          </a:xfrm>
          <a:prstGeom prst="rect">
            <a:avLst/>
          </a:prstGeom>
          <a:solidFill>
            <a:srgbClr val="D62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911096"/>
            <a:ext cx="6217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110">
                <a:solidFill>
                  <a:srgbClr val="5B5754"/>
                </a:solidFill>
                <a:latin typeface="Inter"/>
              </a:rPr>
              <a:t>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286000"/>
            <a:ext cx="617220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def classify(error_signature, boolean_diff,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     time_delta_ms, threshold_ms):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error_found = error_signature is not None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time_hit = time_delta_ms &gt;= threshold_ms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if error_found and (boolean_diff or time_hit):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return Decision(True, "CONFIRMED", "HIGH", ...)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if error_found: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return Decision(True, "CONFIRMED", "HIGH", ...)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if boolean_diff and time_hit: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return Decision(True, "CONFIRMED", "HIGH", ...)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if boolean_diff or time_hit: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return Decision(True, "CONFIRMED", "MEDIUM", ...)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return Decision(False, "NOT_DETECTED", "LOW", ...)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78308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20">
                <a:solidFill>
                  <a:srgbClr val="D62D18"/>
                </a:solidFill>
                <a:latin typeface="Inter"/>
              </a:rPr>
              <a:t>EVIDENCE CAPTURED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148840"/>
            <a:ext cx="429768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A61B0D"/>
                </a:solidFill>
                <a:latin typeface="Inter"/>
              </a:rPr>
              <a:t>▸  error_signature</a:t>
            </a:r>
            <a:r>
              <a:rPr sz="1200">
                <a:solidFill>
                  <a:srgbClr val="171616"/>
                </a:solidFill>
                <a:latin typeface="Inter"/>
              </a:rPr>
              <a:t>  matched DB driver error string, or None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A61B0D"/>
                </a:solidFill>
                <a:latin typeface="Inter"/>
              </a:rPr>
              <a:t>▸  boolean_diff</a:t>
            </a:r>
            <a:r>
              <a:rPr sz="1200">
                <a:solidFill>
                  <a:srgbClr val="171616"/>
                </a:solidFill>
                <a:latin typeface="Inter"/>
              </a:rPr>
              <a:t>  true/false condition response divergence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A61B0D"/>
                </a:solidFill>
                <a:latin typeface="Inter"/>
              </a:rPr>
              <a:t>▸  time_dialect / time_delta_ms</a:t>
            </a:r>
            <a:r>
              <a:rPr sz="1200">
                <a:solidFill>
                  <a:srgbClr val="171616"/>
                </a:solidFill>
                <a:latin typeface="Inter"/>
              </a:rPr>
              <a:t>  which SQL dialect's sleep fired, and by how much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A61B0D"/>
                </a:solidFill>
                <a:latin typeface="Inter"/>
              </a:rPr>
              <a:t>▸  zap.alerts</a:t>
            </a:r>
            <a:r>
              <a:rPr sz="1200">
                <a:solidFill>
                  <a:srgbClr val="171616"/>
                </a:solidFill>
                <a:latin typeface="Inter"/>
              </a:rPr>
              <a:t>  ZAP's own SQLi alerts, when the cross-check is enabled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4434840"/>
            <a:ext cx="4297680" cy="1554480"/>
          </a:xfrm>
          <a:prstGeom prst="rect">
            <a:avLst/>
          </a:prstGeom>
          <a:solidFill>
            <a:srgbClr val="F7F6F4"/>
          </a:solidFill>
          <a:ln w="1270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406640" y="4434840"/>
            <a:ext cx="4297680" cy="27940"/>
          </a:xfrm>
          <a:prstGeom prst="rect">
            <a:avLst/>
          </a:prstGeom>
          <a:solidFill>
            <a:srgbClr val="1672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35240" y="461772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20">
                <a:solidFill>
                  <a:srgbClr val="167249"/>
                </a:solidFill>
                <a:latin typeface="Inter"/>
              </a:rPr>
              <a:t>REMEDIATION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965192"/>
            <a:ext cx="384048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Use parameterised queries / prepared statements (or an ORM that does so) for all database access — never build SQL by string concatenation. Apply least-privilege DB accounts and disable verbose driver errors in production.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60">
                <a:solidFill>
                  <a:srgbClr val="676360"/>
                </a:solidFill>
                <a:latin typeface="Inter"/>
              </a:rPr>
              <a:t>VULNVISTA  |  AUTOMATED WEB VULNERABILITY SCANNER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76360"/>
                </a:solidFill>
                <a:latin typeface="Inter"/>
              </a:rPr>
              <a:t>6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D62D18"/>
                </a:solidFill>
                <a:latin typeface="Inter"/>
              </a:rPr>
              <a:t>VULNERABILITY 2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71616"/>
                </a:solidFill>
                <a:latin typeface="Inter"/>
              </a:rPr>
              <a:t>Cross-Site Scripting (XSS)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659636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6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171616"/>
                </a:solidFill>
                <a:latin typeface="Inter"/>
              </a:rPr>
              <a:t>CWE: CWE-79</a:t>
            </a:r>
          </a:p>
        </p:txBody>
      </p:sp>
      <p:sp>
        <p:nvSpPr>
          <p:cNvPr id="6" name="Rectangle 5"/>
          <p:cNvSpPr/>
          <p:nvPr/>
        </p:nvSpPr>
        <p:spPr>
          <a:xfrm>
            <a:off x="2327148" y="1298448"/>
            <a:ext cx="20802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6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171616"/>
                </a:solidFill>
                <a:latin typeface="Inter"/>
              </a:rPr>
              <a:t>OWASP: A03:2021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298448"/>
            <a:ext cx="1975104" cy="292608"/>
          </a:xfrm>
          <a:prstGeom prst="rect">
            <a:avLst/>
          </a:prstGeom>
          <a:solidFill>
            <a:srgbClr val="D62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Inter"/>
              </a:rPr>
              <a:t>SEVERITY: HIGH</a:t>
            </a:r>
          </a:p>
        </p:txBody>
      </p:sp>
      <p:sp>
        <p:nvSpPr>
          <p:cNvPr id="8" name="Rectangle 7"/>
          <p:cNvSpPr/>
          <p:nvPr/>
        </p:nvSpPr>
        <p:spPr>
          <a:xfrm>
            <a:off x="6711696" y="1298448"/>
            <a:ext cx="1449324" cy="292608"/>
          </a:xfrm>
          <a:prstGeom prst="rect">
            <a:avLst/>
          </a:prstGeom>
          <a:solidFill>
            <a:srgbClr val="D62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Inter"/>
              </a:rPr>
              <a:t>CVSS: 8.2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71616"/>
                </a:solidFill>
                <a:latin typeface="Inter"/>
              </a:rPr>
              <a:t>Applies the strictest possible proof standard: a canary reflected in the HTML response is not treated as a finding on its own — only real, observed execution inside a Chromium browser counts.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060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20">
                <a:solidFill>
                  <a:srgbClr val="D62D18"/>
                </a:solidFill>
                <a:latin typeface="Inter"/>
              </a:rPr>
              <a:t>DETECTION TECHNIQUE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1115568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50" b="1">
                <a:solidFill>
                  <a:srgbClr val="D62D18"/>
                </a:solidFill>
                <a:latin typeface="Inter"/>
              </a:rPr>
              <a:t>▸  Harmless DOM-only canary</a:t>
            </a:r>
            <a:r>
              <a:rPr sz="1350">
                <a:solidFill>
                  <a:srgbClr val="171616"/>
                </a:solidFill>
                <a:latin typeface="Inter"/>
              </a:rPr>
              <a:t>  the payload's only effect is setting one custom DOM attribute via an &lt;img onerror&gt; handler — nothing exfiltrates data or affects the page beyond that marker.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50" b="1">
                <a:solidFill>
                  <a:srgbClr val="D62D18"/>
                </a:solidFill>
                <a:latin typeface="Inter"/>
              </a:rPr>
              <a:t>▸  Real browser execution</a:t>
            </a:r>
            <a:r>
              <a:rPr sz="1350">
                <a:solidFill>
                  <a:srgbClr val="171616"/>
                </a:solidFill>
                <a:latin typeface="Inter"/>
              </a:rPr>
              <a:t>  Playwright drives a headless Chromium instance with the authenticated session's cookies attached, submits the payload exactly as a real user's browser would, and waits for the DOM attribute to actually appear.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50" b="1">
                <a:solidFill>
                  <a:srgbClr val="D62D18"/>
                </a:solidFill>
                <a:latin typeface="Inter"/>
              </a:rPr>
              <a:t>▸  Reflection ≠ confirmation</a:t>
            </a:r>
            <a:r>
              <a:rPr sz="1350">
                <a:solidFill>
                  <a:srgbClr val="171616"/>
                </a:solidFill>
                <a:latin typeface="Inter"/>
              </a:rPr>
              <a:t>  if the marker shows up in the raw HTML but the browser never executes it (e.g. it was HTML-escaped), the finding is NOT_DETECTED — reflection is recorded as evidence only, never as proof.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50" b="1">
                <a:solidFill>
                  <a:srgbClr val="D62D18"/>
                </a:solidFill>
                <a:latin typeface="Inter"/>
              </a:rPr>
              <a:t>▸  Verdict</a:t>
            </a:r>
            <a:r>
              <a:rPr sz="1350">
                <a:solidFill>
                  <a:srgbClr val="171616"/>
                </a:solidFill>
                <a:latin typeface="Inter"/>
              </a:rPr>
              <a:t>  CONFIRMED/HIGH only when document.documentElement's attribute is observed to change inside the real browser DOM.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60">
                <a:solidFill>
                  <a:srgbClr val="676360"/>
                </a:solidFill>
                <a:latin typeface="Inter"/>
              </a:rPr>
              <a:t>VULNVISTA  |  AUTOMATED WEB VULNERABILITY SCANNER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76360"/>
                </a:solidFill>
                <a:latin typeface="Inter"/>
              </a:rPr>
              <a:t>7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D62D18"/>
                </a:solidFill>
                <a:latin typeface="Inter"/>
              </a:rPr>
              <a:t>VULNERABILITY 2 OF 5 —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71616"/>
                </a:solidFill>
                <a:latin typeface="Inter"/>
              </a:rPr>
              <a:t>Cross-Site Scripting (XSS) — Code &amp;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25296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5B5754"/>
                </a:solidFill>
                <a:latin typeface="Inter"/>
              </a:rPr>
              <a:t>backend/app/scanners/xss.py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83080"/>
            <a:ext cx="66751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6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6675120" cy="27940"/>
          </a:xfrm>
          <a:prstGeom prst="rect">
            <a:avLst/>
          </a:prstGeom>
          <a:solidFill>
            <a:srgbClr val="D62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911096"/>
            <a:ext cx="6217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110">
                <a:solidFill>
                  <a:srgbClr val="5B5754"/>
                </a:solidFill>
                <a:latin typeface="Inter"/>
              </a:rPr>
              <a:t>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286000"/>
            <a:ext cx="617220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def build_payload(marker):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return (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'\'"&gt;&lt;img src=x onerror="'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'document.documentElement.setAttribute('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f"'data-vulnvista-xss','{marker}')\"&gt;"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)</a:t>
            </a:r>
          </a:p>
          <a:p>
            <a:pPr>
              <a:lnSpc>
                <a:spcPct val="125000"/>
              </a:lnSpc>
            </a:pPr>
            <a:endParaRPr sz="1150">
              <a:solidFill>
                <a:srgbClr val="171616"/>
              </a:solidFill>
              <a:latin typeface="Consolas"/>
            </a:endParaRP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def classify(marker_reflected, marker_executed):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if marker_executed: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return Decision(True, "CONFIRMED", "HIGH", ...)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if marker_reflected: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return Decision(False, "NOT_DETECTED", "HIGH",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    "reflected but not executed")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return Decision(False, "NOT_DETECTED", "HIGH", ...)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78308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20">
                <a:solidFill>
                  <a:srgbClr val="D62D18"/>
                </a:solidFill>
                <a:latin typeface="Inter"/>
              </a:rPr>
              <a:t>EVIDENCE CAPTURED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148840"/>
            <a:ext cx="429768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A61B0D"/>
                </a:solidFill>
                <a:latin typeface="Inter"/>
              </a:rPr>
              <a:t>▸  marker_reflected</a:t>
            </a:r>
            <a:r>
              <a:rPr sz="1200">
                <a:solidFill>
                  <a:srgbClr val="171616"/>
                </a:solidFill>
                <a:latin typeface="Inter"/>
              </a:rPr>
              <a:t>  canary found in the raw HTML response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A61B0D"/>
                </a:solidFill>
                <a:latin typeface="Inter"/>
              </a:rPr>
              <a:t>▸  browser_execution_confirmed</a:t>
            </a:r>
            <a:r>
              <a:rPr sz="1200">
                <a:solidFill>
                  <a:srgbClr val="171616"/>
                </a:solidFill>
                <a:latin typeface="Inter"/>
              </a:rPr>
              <a:t>  DOM attribute change observed in Chromium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A61B0D"/>
                </a:solidFill>
                <a:latin typeface="Inter"/>
              </a:rPr>
              <a:t>▸  browser_engine</a:t>
            </a:r>
            <a:r>
              <a:rPr sz="1200">
                <a:solidFill>
                  <a:srgbClr val="171616"/>
                </a:solidFill>
                <a:latin typeface="Inter"/>
              </a:rPr>
              <a:t>  "chromium" — recorded for reproducibility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A61B0D"/>
                </a:solidFill>
                <a:latin typeface="Inter"/>
              </a:rPr>
              <a:t>▸  candidate_source</a:t>
            </a:r>
            <a:r>
              <a:rPr sz="1200">
                <a:solidFill>
                  <a:srgbClr val="171616"/>
                </a:solidFill>
                <a:latin typeface="Inter"/>
              </a:rPr>
              <a:t>  auto-discovered vs. explicit vs. lab preset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4434840"/>
            <a:ext cx="4297680" cy="1554480"/>
          </a:xfrm>
          <a:prstGeom prst="rect">
            <a:avLst/>
          </a:prstGeom>
          <a:solidFill>
            <a:srgbClr val="F7F6F4"/>
          </a:solidFill>
          <a:ln w="1270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406640" y="4434840"/>
            <a:ext cx="4297680" cy="27940"/>
          </a:xfrm>
          <a:prstGeom prst="rect">
            <a:avLst/>
          </a:prstGeom>
          <a:solidFill>
            <a:srgbClr val="1672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35240" y="461772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20">
                <a:solidFill>
                  <a:srgbClr val="167249"/>
                </a:solidFill>
                <a:latin typeface="Inter"/>
              </a:rPr>
              <a:t>REMEDIATION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965192"/>
            <a:ext cx="384048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Apply context-aware output encoding, sanitize untrusted HTML with a maintained allowlist sanitizer, avoid unsafe DOM sinks, and enforce a restrictive Content Security Policy as defence in depth.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60">
                <a:solidFill>
                  <a:srgbClr val="676360"/>
                </a:solidFill>
                <a:latin typeface="Inter"/>
              </a:rPr>
              <a:t>VULNVISTA  |  AUTOMATED WEB VULNERABILITY SCANNER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76360"/>
                </a:solidFill>
                <a:latin typeface="Inter"/>
              </a:rPr>
              <a:t>8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D62D18"/>
                </a:solidFill>
                <a:latin typeface="Inter"/>
              </a:rPr>
              <a:t>VULNERABILITY 3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71616"/>
                </a:solidFill>
                <a:latin typeface="Inter"/>
              </a:rPr>
              <a:t>Broken Access Control / IDOR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76479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6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171616"/>
                </a:solidFill>
                <a:latin typeface="Inter"/>
              </a:rPr>
              <a:t>CWE: CWE-639</a:t>
            </a:r>
          </a:p>
        </p:txBody>
      </p:sp>
      <p:sp>
        <p:nvSpPr>
          <p:cNvPr id="6" name="Rectangle 5"/>
          <p:cNvSpPr/>
          <p:nvPr/>
        </p:nvSpPr>
        <p:spPr>
          <a:xfrm>
            <a:off x="2432304" y="1298448"/>
            <a:ext cx="20802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6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171616"/>
                </a:solidFill>
                <a:latin typeface="Inter"/>
              </a:rPr>
              <a:t>OWASP: A01:2021</a:t>
            </a:r>
          </a:p>
        </p:txBody>
      </p:sp>
      <p:sp>
        <p:nvSpPr>
          <p:cNvPr id="7" name="Rectangle 6"/>
          <p:cNvSpPr/>
          <p:nvPr/>
        </p:nvSpPr>
        <p:spPr>
          <a:xfrm>
            <a:off x="4677156" y="1298448"/>
            <a:ext cx="1975104" cy="292608"/>
          </a:xfrm>
          <a:prstGeom prst="rect">
            <a:avLst/>
          </a:prstGeom>
          <a:solidFill>
            <a:srgbClr val="D62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Inter"/>
              </a:rPr>
              <a:t>SEVERITY: HIGH</a:t>
            </a:r>
          </a:p>
        </p:txBody>
      </p:sp>
      <p:sp>
        <p:nvSpPr>
          <p:cNvPr id="8" name="Rectangle 7"/>
          <p:cNvSpPr/>
          <p:nvPr/>
        </p:nvSpPr>
        <p:spPr>
          <a:xfrm>
            <a:off x="6816852" y="1298448"/>
            <a:ext cx="2080260" cy="292608"/>
          </a:xfrm>
          <a:prstGeom prst="rect">
            <a:avLst/>
          </a:prstGeom>
          <a:solidFill>
            <a:srgbClr val="D62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Inter"/>
              </a:rPr>
              <a:t>CVSS: 6.5 – 7.5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71616"/>
                </a:solidFill>
                <a:latin typeface="Inter"/>
              </a:rPr>
              <a:t>Uses two synthetic lab accounts and read-only requests only — the detector never writes, modifies, or deletes any object, so a target's seeded state is left unchanged by a scan.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060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20">
                <a:solidFill>
                  <a:srgbClr val="D62D18"/>
                </a:solidFill>
                <a:latin typeface="Inter"/>
              </a:rPr>
              <a:t>DETECTION TECHNIQUE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1115568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50" b="1">
                <a:solidFill>
                  <a:srgbClr val="D62D18"/>
                </a:solidFill>
                <a:latin typeface="Inter"/>
              </a:rPr>
              <a:t>▸  Establish two baselines</a:t>
            </a:r>
            <a:r>
              <a:rPr sz="1350">
                <a:solidFill>
                  <a:srgbClr val="171616"/>
                </a:solidFill>
                <a:latin typeface="Inter"/>
              </a:rPr>
              <a:t>  Account A and Account B each authenticate and read their own object first, so the detector knows what a legitimate response looks like for each.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50" b="1">
                <a:solidFill>
                  <a:srgbClr val="D62D18"/>
                </a:solidFill>
                <a:latin typeface="Inter"/>
              </a:rPr>
              <a:t>▸  Cross-account read</a:t>
            </a:r>
            <a:r>
              <a:rPr sz="1350">
                <a:solidFill>
                  <a:srgbClr val="171616"/>
                </a:solidFill>
                <a:latin typeface="Inter"/>
              </a:rPr>
              <a:t>  Account A then requests Account B's object using only Account A's own session — the object identifier is simply swapped in the request.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50" b="1">
                <a:solidFill>
                  <a:srgbClr val="D62D18"/>
                </a:solidFill>
                <a:latin typeface="Inter"/>
              </a:rPr>
              <a:t>▸  Ownership attribution</a:t>
            </a:r>
            <a:r>
              <a:rPr sz="1350">
                <a:solidFill>
                  <a:srgbClr val="171616"/>
                </a:solidFill>
                <a:latin typeface="Inter"/>
              </a:rPr>
              <a:t>  an explicit owner field is preferred when the target exposes one; otherwise the response is compared by content hash against each account's own baseline to decide whose data was actually returned.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50" b="1">
                <a:solidFill>
                  <a:srgbClr val="D62D18"/>
                </a:solidFill>
                <a:latin typeface="Inter"/>
              </a:rPr>
              <a:t>▸  Unauthenticated control</a:t>
            </a:r>
            <a:r>
              <a:rPr sz="1350">
                <a:solidFill>
                  <a:srgbClr val="171616"/>
                </a:solidFill>
                <a:latin typeface="Inter"/>
              </a:rPr>
              <a:t>  a third, anonymous request against the same object distinguishes a genuine object-level authorization flaw (HIGH, 7.5) from an endpoint that simply serves public data without any auth requirement at all (6.5).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60">
                <a:solidFill>
                  <a:srgbClr val="676360"/>
                </a:solidFill>
                <a:latin typeface="Inter"/>
              </a:rPr>
              <a:t>VULNVISTA  |  AUTOMATED WEB VULNERABILITY SCANNER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76360"/>
                </a:solidFill>
                <a:latin typeface="Inter"/>
              </a:rPr>
              <a:t>9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D62D18"/>
                </a:solidFill>
                <a:latin typeface="Inter"/>
              </a:rPr>
              <a:t>VULNERABILITY 3 OF 5 —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71616"/>
                </a:solidFill>
                <a:latin typeface="Inter"/>
              </a:rPr>
              <a:t>Broken Access Control / IDOR — Code &amp;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25296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5B5754"/>
                </a:solidFill>
                <a:latin typeface="Inter"/>
              </a:rPr>
              <a:t>backend/app/scanners/idor.py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83080"/>
            <a:ext cx="66751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6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6675120" cy="27940"/>
          </a:xfrm>
          <a:prstGeom prst="rect">
            <a:avLst/>
          </a:prstGeom>
          <a:solidFill>
            <a:srgbClr val="D62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911096"/>
            <a:ext cx="6217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110">
                <a:solidFill>
                  <a:srgbClr val="5B5754"/>
                </a:solidFill>
                <a:latin typeface="Inter"/>
              </a:rPr>
              <a:t>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286000"/>
            <a:ext cx="617220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def attribute_owner(cross, a_own, b_own):</a:t>
            </a:r>
          </a:p>
          <a:p>
            <a:pPr>
              <a:lnSpc>
                <a:spcPct val="125000"/>
              </a:lnSpc>
            </a:pPr>
            <a:r>
              <a:rPr sz="1150" i="1">
                <a:solidFill>
                  <a:srgbClr val="676360"/>
                </a:solidFill>
                <a:latin typeface="Consolas"/>
              </a:rPr>
              <a:t>    # explicit owner field wins when present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if cross.owner_marker == b_own.owner_marker: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return "other_user"</a:t>
            </a:r>
          </a:p>
          <a:p>
            <a:pPr>
              <a:lnSpc>
                <a:spcPct val="125000"/>
              </a:lnSpc>
            </a:pPr>
            <a:r>
              <a:rPr sz="1150" i="1">
                <a:solidFill>
                  <a:srgbClr val="676360"/>
                </a:solidFill>
                <a:latin typeface="Consolas"/>
              </a:rPr>
              <a:t>    # else fall back to content-hash comparison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if cross.body_hash == b_own.body_hash: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return "other_user"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...</a:t>
            </a:r>
          </a:p>
          <a:p>
            <a:pPr>
              <a:lnSpc>
                <a:spcPct val="125000"/>
              </a:lnSpc>
            </a:pPr>
            <a:endParaRPr sz="1150">
              <a:solidFill>
                <a:srgbClr val="171616"/>
              </a:solidFill>
              <a:latin typeface="Consolas"/>
            </a:endParaRP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def classify(cross, ownership, unauthenticated_ok):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if ownership == "other_user":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return Decision(True, "CONFIRMED", "HIGH", ...)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78308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20">
                <a:solidFill>
                  <a:srgbClr val="D62D18"/>
                </a:solidFill>
                <a:latin typeface="Inter"/>
              </a:rPr>
              <a:t>EVIDENCE CAPTURED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148840"/>
            <a:ext cx="429768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A61B0D"/>
                </a:solidFill>
                <a:latin typeface="Inter"/>
              </a:rPr>
              <a:t>▸  ownership_attribution</a:t>
            </a:r>
            <a:r>
              <a:rPr sz="1200">
                <a:solidFill>
                  <a:srgbClr val="171616"/>
                </a:solidFill>
                <a:latin typeface="Inter"/>
              </a:rPr>
              <a:t>  other_user / same_user / indistinguishable / unknown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A61B0D"/>
                </a:solidFill>
                <a:latin typeface="Inter"/>
              </a:rPr>
              <a:t>▸  cross_response_matches_owner_view</a:t>
            </a:r>
            <a:r>
              <a:rPr sz="1200">
                <a:solidFill>
                  <a:srgbClr val="171616"/>
                </a:solidFill>
                <a:latin typeface="Inter"/>
              </a:rPr>
              <a:t>  boolean — A's request returned B's real data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A61B0D"/>
                </a:solidFill>
                <a:latin typeface="Inter"/>
              </a:rPr>
              <a:t>▸  unauthenticated_control.served_owner_data</a:t>
            </a:r>
            <a:r>
              <a:rPr sz="1200">
                <a:solidFill>
                  <a:srgbClr val="171616"/>
                </a:solidFill>
                <a:latin typeface="Inter"/>
              </a:rPr>
              <a:t>  distinguishes severity (7.5 vs 6.5)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A61B0D"/>
                </a:solidFill>
                <a:latin typeface="Inter"/>
              </a:rPr>
              <a:t>▸  synthetic_accounts_provisioned</a:t>
            </a:r>
            <a:r>
              <a:rPr sz="1200">
                <a:solidFill>
                  <a:srgbClr val="171616"/>
                </a:solidFill>
                <a:latin typeface="Inter"/>
              </a:rPr>
              <a:t>  which lab accounts the detector created itself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4434840"/>
            <a:ext cx="4297680" cy="1554480"/>
          </a:xfrm>
          <a:prstGeom prst="rect">
            <a:avLst/>
          </a:prstGeom>
          <a:solidFill>
            <a:srgbClr val="F7F6F4"/>
          </a:solidFill>
          <a:ln w="1270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406640" y="4434840"/>
            <a:ext cx="4297680" cy="27940"/>
          </a:xfrm>
          <a:prstGeom prst="rect">
            <a:avLst/>
          </a:prstGeom>
          <a:solidFill>
            <a:srgbClr val="1672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35240" y="461772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20">
                <a:solidFill>
                  <a:srgbClr val="167249"/>
                </a:solidFill>
                <a:latin typeface="Inter"/>
              </a:rPr>
              <a:t>REMEDIATION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965192"/>
            <a:ext cx="384048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Authorise every request against the session's own identity, not an identifier supplied by the caller: look the object up scoped to the authenticated user, or verify ownership server-side before returning or modifying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60">
                <a:solidFill>
                  <a:srgbClr val="676360"/>
                </a:solidFill>
                <a:latin typeface="Inter"/>
              </a:rPr>
              <a:t>VULNVISTA  |  AUTOMATED WEB VULNERABILITY SCANNER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76360"/>
                </a:solidFill>
                <a:latin typeface="Inter"/>
              </a:rPr>
              <a:t>10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D62D18"/>
                </a:solidFill>
                <a:latin typeface="Inter"/>
              </a:rPr>
              <a:t>VULNERABILITY 4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71616"/>
                </a:solidFill>
                <a:latin typeface="Inter"/>
              </a:rPr>
              <a:t>Server-Side Request Forgery (SSRF)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76479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6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171616"/>
                </a:solidFill>
                <a:latin typeface="Inter"/>
              </a:rPr>
              <a:t>CWE: CWE-918</a:t>
            </a:r>
          </a:p>
        </p:txBody>
      </p:sp>
      <p:sp>
        <p:nvSpPr>
          <p:cNvPr id="6" name="Rectangle 5"/>
          <p:cNvSpPr/>
          <p:nvPr/>
        </p:nvSpPr>
        <p:spPr>
          <a:xfrm>
            <a:off x="2432304" y="1298448"/>
            <a:ext cx="20802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6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171616"/>
                </a:solidFill>
                <a:latin typeface="Inter"/>
              </a:rPr>
              <a:t>OWASP: A10:2021</a:t>
            </a:r>
          </a:p>
        </p:txBody>
      </p:sp>
      <p:sp>
        <p:nvSpPr>
          <p:cNvPr id="7" name="Rectangle 6"/>
          <p:cNvSpPr/>
          <p:nvPr/>
        </p:nvSpPr>
        <p:spPr>
          <a:xfrm>
            <a:off x="4677156" y="1298448"/>
            <a:ext cx="1975104" cy="292608"/>
          </a:xfrm>
          <a:prstGeom prst="rect">
            <a:avLst/>
          </a:prstGeom>
          <a:solidFill>
            <a:srgbClr val="D62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Inter"/>
              </a:rPr>
              <a:t>SEVERITY: HIGH</a:t>
            </a:r>
          </a:p>
        </p:txBody>
      </p:sp>
      <p:sp>
        <p:nvSpPr>
          <p:cNvPr id="8" name="Rectangle 7"/>
          <p:cNvSpPr/>
          <p:nvPr/>
        </p:nvSpPr>
        <p:spPr>
          <a:xfrm>
            <a:off x="6816852" y="1298448"/>
            <a:ext cx="1449324" cy="292608"/>
          </a:xfrm>
          <a:prstGeom prst="rect">
            <a:avLst/>
          </a:prstGeom>
          <a:solidFill>
            <a:srgbClr val="D62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Inter"/>
              </a:rPr>
              <a:t>CVSS: 8.1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71616"/>
                </a:solidFill>
                <a:latin typeface="Inter"/>
              </a:rPr>
              <a:t>The only positive signal is a request received by a local callback listener at a unique, unguessable path given exclusively to the target — never a cloud-metadata endpoint, loopback service, or third-party system.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060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20">
                <a:solidFill>
                  <a:srgbClr val="D62D18"/>
                </a:solidFill>
                <a:latin typeface="Inter"/>
              </a:rPr>
              <a:t>DETECTION TECHNIQUE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1115568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50" b="1">
                <a:solidFill>
                  <a:srgbClr val="D62D18"/>
                </a:solidFill>
                <a:latin typeface="Inter"/>
              </a:rPr>
              <a:t>▸  Unique callback path</a:t>
            </a:r>
            <a:r>
              <a:rPr sz="1350">
                <a:solidFill>
                  <a:srgbClr val="171616"/>
                </a:solidFill>
                <a:latin typeface="Inter"/>
              </a:rPr>
              <a:t>  a fresh, unguessable path (/vulnvista-ssrf-&lt;token&gt;.jpg) is generated per scan and handed to the target's own URL-fetching feature (e.g. a profile-image importer) as the value to fetch.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50" b="1">
                <a:solidFill>
                  <a:srgbClr val="D62D18"/>
                </a:solidFill>
                <a:latin typeface="Inter"/>
              </a:rPr>
              <a:t>▸  Out-of-band proof</a:t>
            </a:r>
            <a:r>
              <a:rPr sz="1350">
                <a:solidFill>
                  <a:srgbClr val="171616"/>
                </a:solidFill>
                <a:latin typeface="Inter"/>
              </a:rPr>
              <a:t>  a tiny listener this detector starts itself is the only thing that could ever receive a hit at that exact path — a hit proves the target's server made the fetch, not the requester's own browser.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50" b="1">
                <a:solidFill>
                  <a:srgbClr val="D62D18"/>
                </a:solidFill>
                <a:latin typeface="Inter"/>
              </a:rPr>
              <a:t>▸  Safe-by-construction callback</a:t>
            </a:r>
            <a:r>
              <a:rPr sz="1350">
                <a:solidFill>
                  <a:srgbClr val="171616"/>
                </a:solidFill>
                <a:latin typeface="Inter"/>
              </a:rPr>
              <a:t>  the listener always replies 404 with an empty body, so a URL-import feature never persists the callback's content as if it were a real file.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50" b="1">
                <a:solidFill>
                  <a:srgbClr val="D62D18"/>
                </a:solidFill>
                <a:latin typeface="Inter"/>
              </a:rPr>
              <a:t>▸  State restoration</a:t>
            </a:r>
            <a:r>
              <a:rPr sz="1350">
                <a:solidFill>
                  <a:srgbClr val="171616"/>
                </a:solidFill>
                <a:latin typeface="Inter"/>
              </a:rPr>
              <a:t>  if the target's own setting (e.g. profile image URL) was changed to run the test, the detector restores the original value afterward using the authentic session.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60">
                <a:solidFill>
                  <a:srgbClr val="676360"/>
                </a:solidFill>
                <a:latin typeface="Inter"/>
              </a:rPr>
              <a:t>VULNVISTA  |  AUTOMATED WEB VULNERABILITY SCANNER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76360"/>
                </a:solidFill>
                <a:latin typeface="Inter"/>
              </a:rPr>
              <a:t>11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D62D18"/>
                </a:solidFill>
                <a:latin typeface="Inter"/>
              </a:rPr>
              <a:t>VULNERABILITY 4 OF 5 —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71616"/>
                </a:solidFill>
                <a:latin typeface="Inter"/>
              </a:rPr>
              <a:t>Server-Side Request Forgery (SSRF) — Code &amp;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25296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5B5754"/>
                </a:solidFill>
                <a:latin typeface="Inter"/>
              </a:rPr>
              <a:t>backend/app/scanners/ssrf.py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83080"/>
            <a:ext cx="66751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6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6675120" cy="27940"/>
          </a:xfrm>
          <a:prstGeom prst="rect">
            <a:avLst/>
          </a:prstGeom>
          <a:solidFill>
            <a:srgbClr val="D62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911096"/>
            <a:ext cx="6217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110">
                <a:solidFill>
                  <a:srgbClr val="5B5754"/>
                </a:solidFill>
                <a:latin typeface="Inter"/>
              </a:rPr>
              <a:t>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286000"/>
            <a:ext cx="617220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ALLOWED_CALLBACK_HOSTS = {"backend", "vulnvista_backend"}</a:t>
            </a:r>
          </a:p>
          <a:p>
            <a:pPr>
              <a:lnSpc>
                <a:spcPct val="125000"/>
              </a:lnSpc>
            </a:pPr>
            <a:endParaRPr sz="1150">
              <a:solidFill>
                <a:srgbClr val="171616"/>
              </a:solidFill>
              <a:latin typeface="Consolas"/>
            </a:endParaRP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def classify(callback_hit):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if callback_hit: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return Decision(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    detected=True, validation_status="CONFIRMED",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    confidence="HIGH", severity="HIGH",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    reason="callback received a request at the "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           "unique path supplied only to the target",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)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return Decision(False, "NOT_DETECTED", "LOW", "INFO", ...)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78308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20">
                <a:solidFill>
                  <a:srgbClr val="D62D18"/>
                </a:solidFill>
                <a:latin typeface="Inter"/>
              </a:rPr>
              <a:t>EVIDENCE CAPTURED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148840"/>
            <a:ext cx="429768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A61B0D"/>
                </a:solidFill>
                <a:latin typeface="Inter"/>
              </a:rPr>
              <a:t>▸  callback.source_ip / user_agent</a:t>
            </a:r>
            <a:r>
              <a:rPr sz="1200">
                <a:solidFill>
                  <a:srgbClr val="171616"/>
                </a:solidFill>
                <a:latin typeface="Inter"/>
              </a:rPr>
              <a:t>  who actually made the outbound request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A61B0D"/>
                </a:solidFill>
                <a:latin typeface="Inter"/>
              </a:rPr>
              <a:t>▸  expected_callback_path</a:t>
            </a:r>
            <a:r>
              <a:rPr sz="1200">
                <a:solidFill>
                  <a:srgbClr val="171616"/>
                </a:solidFill>
                <a:latin typeface="Inter"/>
              </a:rPr>
              <a:t>  the unique token path only the target was given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A61B0D"/>
                </a:solidFill>
                <a:latin typeface="Inter"/>
              </a:rPr>
              <a:t>▸  callback_owned_by_scanner</a:t>
            </a:r>
            <a:r>
              <a:rPr sz="1200">
                <a:solidFill>
                  <a:srgbClr val="171616"/>
                </a:solidFill>
                <a:latin typeface="Inter"/>
              </a:rPr>
              <a:t>  always true — never a third-party or metadata service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A61B0D"/>
                </a:solidFill>
                <a:latin typeface="Inter"/>
              </a:rPr>
              <a:t>▸  restoration_attempted / succeeded</a:t>
            </a:r>
            <a:r>
              <a:rPr sz="1200">
                <a:solidFill>
                  <a:srgbClr val="171616"/>
                </a:solidFill>
                <a:latin typeface="Inter"/>
              </a:rPr>
              <a:t>  original setting rollback after the test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4434840"/>
            <a:ext cx="4297680" cy="1554480"/>
          </a:xfrm>
          <a:prstGeom prst="rect">
            <a:avLst/>
          </a:prstGeom>
          <a:solidFill>
            <a:srgbClr val="F7F6F4"/>
          </a:solidFill>
          <a:ln w="1270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406640" y="4434840"/>
            <a:ext cx="4297680" cy="27940"/>
          </a:xfrm>
          <a:prstGeom prst="rect">
            <a:avLst/>
          </a:prstGeom>
          <a:solidFill>
            <a:srgbClr val="1672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35240" y="461772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20">
                <a:solidFill>
                  <a:srgbClr val="167249"/>
                </a:solidFill>
                <a:latin typeface="Inter"/>
              </a:rPr>
              <a:t>REMEDIATION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965192"/>
            <a:ext cx="384048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Avoid server-side fetching of user-supplied URLs. Where required, allowlist exact schemes/hosts/ports, resolve and validate DNS before every connection and redirect, and block loopback/private/cloud-metadata ranges.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60">
                <a:solidFill>
                  <a:srgbClr val="676360"/>
                </a:solidFill>
                <a:latin typeface="Inter"/>
              </a:rPr>
              <a:t>VULNVISTA  |  AUTOMATED WEB VULNERABILITY SCANNER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76360"/>
                </a:solidFill>
                <a:latin typeface="Inter"/>
              </a:rPr>
              <a:t>12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D62D18"/>
                </a:solidFill>
                <a:latin typeface="Inter"/>
              </a:rPr>
              <a:t>VULNERABILITY 5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71616"/>
                </a:solidFill>
                <a:latin typeface="Inter"/>
              </a:rPr>
              <a:t>XML External Entity (XXE) Injection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76479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6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171616"/>
                </a:solidFill>
                <a:latin typeface="Inter"/>
              </a:rPr>
              <a:t>CWE: CWE-611</a:t>
            </a:r>
          </a:p>
        </p:txBody>
      </p:sp>
      <p:sp>
        <p:nvSpPr>
          <p:cNvPr id="6" name="Rectangle 5"/>
          <p:cNvSpPr/>
          <p:nvPr/>
        </p:nvSpPr>
        <p:spPr>
          <a:xfrm>
            <a:off x="2432304" y="1298448"/>
            <a:ext cx="20802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6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171616"/>
                </a:solidFill>
                <a:latin typeface="Inter"/>
              </a:rPr>
              <a:t>OWASP: A05:2021</a:t>
            </a:r>
          </a:p>
        </p:txBody>
      </p:sp>
      <p:sp>
        <p:nvSpPr>
          <p:cNvPr id="7" name="Rectangle 6"/>
          <p:cNvSpPr/>
          <p:nvPr/>
        </p:nvSpPr>
        <p:spPr>
          <a:xfrm>
            <a:off x="4677156" y="1298448"/>
            <a:ext cx="2395728" cy="292608"/>
          </a:xfrm>
          <a:prstGeom prst="rect">
            <a:avLst/>
          </a:prstGeom>
          <a:solidFill>
            <a:srgbClr val="B71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Inter"/>
              </a:rPr>
              <a:t>SEVERITY: CRITICAL</a:t>
            </a:r>
          </a:p>
        </p:txBody>
      </p:sp>
      <p:sp>
        <p:nvSpPr>
          <p:cNvPr id="8" name="Rectangle 7"/>
          <p:cNvSpPr/>
          <p:nvPr/>
        </p:nvSpPr>
        <p:spPr>
          <a:xfrm>
            <a:off x="7237476" y="1298448"/>
            <a:ext cx="1449324" cy="292608"/>
          </a:xfrm>
          <a:prstGeom prst="rect">
            <a:avLst/>
          </a:prstGeom>
          <a:solidFill>
            <a:srgbClr val="B71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Inter"/>
              </a:rPr>
              <a:t>CVSS: 7.5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71616"/>
                </a:solidFill>
                <a:latin typeface="Inter"/>
              </a:rPr>
              <a:t>Proves external-entity resolution without ever reading real or sensitive data off the target, using two safe, independent probes — either signal alone is sufficient to confirm.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060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20">
                <a:solidFill>
                  <a:srgbClr val="D62D18"/>
                </a:solidFill>
                <a:latin typeface="Inter"/>
              </a:rPr>
              <a:t>DETECTION TECHNIQUE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1115568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50" b="1">
                <a:solidFill>
                  <a:srgbClr val="D62D18"/>
                </a:solidFill>
                <a:latin typeface="Inter"/>
              </a:rPr>
              <a:t>▸  Out-of-band callback</a:t>
            </a:r>
            <a:r>
              <a:rPr sz="1350">
                <a:solidFill>
                  <a:srgbClr val="171616"/>
                </a:solidFill>
                <a:latin typeface="Inter"/>
              </a:rPr>
              <a:t>  submit a DOCTYPE whose SYSTEM entity URL points at a tiny stdlib HTTP listener this detector starts itself on an ephemeral port — a hit proves the parser made a network call to a URL it only ever saw inside the XML.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50" b="1">
                <a:solidFill>
                  <a:srgbClr val="D62D18"/>
                </a:solidFill>
                <a:latin typeface="Inter"/>
              </a:rPr>
              <a:t>▸  Safe local-file reflection</a:t>
            </a:r>
            <a:r>
              <a:rPr sz="1350">
                <a:solidFill>
                  <a:srgbClr val="171616"/>
                </a:solidFill>
                <a:latin typeface="Inter"/>
              </a:rPr>
              <a:t>  a second document points the entity at file:///etc/os-release — present on virtually every Linux container, containing only public OS branding, never sensitive data — and checks for its known PRETTY_NAME= fingerprint in the response.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50" b="1">
                <a:solidFill>
                  <a:srgbClr val="D62D18"/>
                </a:solidFill>
                <a:latin typeface="Inter"/>
              </a:rPr>
              <a:t>▸  Why two probes</a:t>
            </a:r>
            <a:r>
              <a:rPr sz="1350">
                <a:solidFill>
                  <a:srgbClr val="171616"/>
                </a:solidFill>
                <a:latin typeface="Inter"/>
              </a:rPr>
              <a:t>  many XML libraries resolve file:// SYSTEM identifiers but never make network calls, so the OOB probe alone under-detects — the file-reflection probe catches that common case.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50" b="1">
                <a:solidFill>
                  <a:srgbClr val="D62D18"/>
                </a:solidFill>
                <a:latin typeface="Inter"/>
              </a:rPr>
              <a:t>▸  Verdict</a:t>
            </a:r>
            <a:r>
              <a:rPr sz="1350">
                <a:solidFill>
                  <a:srgbClr val="171616"/>
                </a:solidFill>
                <a:latin typeface="Inter"/>
              </a:rPr>
              <a:t>  CONFIRMED/HIGH if either the callback fires or the fingerprint is reflected back.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60">
                <a:solidFill>
                  <a:srgbClr val="676360"/>
                </a:solidFill>
                <a:latin typeface="Inter"/>
              </a:rPr>
              <a:t>VULNVISTA  |  AUTOMATED WEB VULNERABILITY SCANNER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76360"/>
                </a:solidFill>
                <a:latin typeface="Inter"/>
              </a:rPr>
              <a:t>13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D62D18"/>
                </a:solidFill>
                <a:latin typeface="Inter"/>
              </a:rPr>
              <a:t>VULNERABILITY 5 OF 5 —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71616"/>
                </a:solidFill>
                <a:latin typeface="Inter"/>
              </a:rPr>
              <a:t>XML External Entity (XXE) Injection — Code &amp;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25296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5B5754"/>
                </a:solidFill>
                <a:latin typeface="Inter"/>
              </a:rPr>
              <a:t>backend/app/scanners/xxe.py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83080"/>
            <a:ext cx="66751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6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6675120" cy="27940"/>
          </a:xfrm>
          <a:prstGeom prst="rect">
            <a:avLst/>
          </a:prstGeom>
          <a:solidFill>
            <a:srgbClr val="D62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911096"/>
            <a:ext cx="6217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110">
                <a:solidFill>
                  <a:srgbClr val="5B5754"/>
                </a:solidFill>
                <a:latin typeface="Inter"/>
              </a:rPr>
              <a:t>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286000"/>
            <a:ext cx="617220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def build_payload(callback_url):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return (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'&lt;?xml version="1.0"?&gt;\n'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f'&lt;!DOCTYPE vulnvista ['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f'&lt;!ENTITY xxe SYSTEM "{callback_url}"&gt;]&gt;\n'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'&lt;vulnvista&gt;&lt;probe&gt;&amp;xxe;&lt;/probe&gt;&lt;/vulnvista&gt;'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)</a:t>
            </a:r>
          </a:p>
          <a:p>
            <a:pPr>
              <a:lnSpc>
                <a:spcPct val="125000"/>
              </a:lnSpc>
            </a:pPr>
            <a:endParaRPr sz="1150">
              <a:solidFill>
                <a:srgbClr val="171616"/>
              </a:solidFill>
              <a:latin typeface="Consolas"/>
            </a:endParaRP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def classify(oob_hit, in_band_reflected):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if oob_hit or in_band_reflected: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    return Decision(True, "CONFIRMED", "HIGH", ...)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171616"/>
                </a:solidFill>
                <a:latin typeface="Consolas"/>
              </a:rPr>
              <a:t>    return Decision(False, "NOT_DETECTED", "LOW", ...)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78308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20">
                <a:solidFill>
                  <a:srgbClr val="D62D18"/>
                </a:solidFill>
                <a:latin typeface="Inter"/>
              </a:rPr>
              <a:t>EVIDENCE CAPTURED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148840"/>
            <a:ext cx="429768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A61B0D"/>
                </a:solidFill>
                <a:latin typeface="Inter"/>
              </a:rPr>
              <a:t>▸  oob_hit / oob_hit_count</a:t>
            </a:r>
            <a:r>
              <a:rPr sz="1200">
                <a:solidFill>
                  <a:srgbClr val="171616"/>
                </a:solidFill>
                <a:latin typeface="Inter"/>
              </a:rPr>
              <a:t>  canary listener received the callback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A61B0D"/>
                </a:solidFill>
                <a:latin typeface="Inter"/>
              </a:rPr>
              <a:t>▸  local_file_reflected</a:t>
            </a:r>
            <a:r>
              <a:rPr sz="1200">
                <a:solidFill>
                  <a:srgbClr val="171616"/>
                </a:solidFill>
                <a:latin typeface="Inter"/>
              </a:rPr>
              <a:t>  PRETTY_NAME= fingerprint echoed back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A61B0D"/>
                </a:solidFill>
                <a:latin typeface="Inter"/>
              </a:rPr>
              <a:t>▸  callback_url</a:t>
            </a:r>
            <a:r>
              <a:rPr sz="1200">
                <a:solidFill>
                  <a:srgbClr val="171616"/>
                </a:solidFill>
                <a:latin typeface="Inter"/>
              </a:rPr>
              <a:t>  ephemeral-port URL only this scan knows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A61B0D"/>
                </a:solidFill>
                <a:latin typeface="Inter"/>
              </a:rPr>
              <a:t>▸  request_style</a:t>
            </a:r>
            <a:r>
              <a:rPr sz="1200">
                <a:solidFill>
                  <a:srgbClr val="171616"/>
                </a:solidFill>
                <a:latin typeface="Inter"/>
              </a:rPr>
              <a:t>  raw / json_field / multipart submission mode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4434840"/>
            <a:ext cx="4297680" cy="1554480"/>
          </a:xfrm>
          <a:prstGeom prst="rect">
            <a:avLst/>
          </a:prstGeom>
          <a:solidFill>
            <a:srgbClr val="F7F6F4"/>
          </a:solidFill>
          <a:ln w="1270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406640" y="4434840"/>
            <a:ext cx="4297680" cy="27940"/>
          </a:xfrm>
          <a:prstGeom prst="rect">
            <a:avLst/>
          </a:prstGeom>
          <a:solidFill>
            <a:srgbClr val="1672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35240" y="461772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20">
                <a:solidFill>
                  <a:srgbClr val="167249"/>
                </a:solidFill>
                <a:latin typeface="Inter"/>
              </a:rPr>
              <a:t>REMEDIATION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965192"/>
            <a:ext cx="384048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Disable DTD processing and external entity resolution in the XML parser (e.g. defusedxml in Python, libxml2 noent/resolve_entities off), or use a DTD-free format like JSON wherever the schema allows.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60">
                <a:solidFill>
                  <a:srgbClr val="676360"/>
                </a:solidFill>
                <a:latin typeface="Inter"/>
              </a:rPr>
              <a:t>VULNVISTA  |  AUTOMATED WEB VULNERABILITY SCANNER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76360"/>
                </a:solidFill>
                <a:latin typeface="Inter"/>
              </a:rPr>
              <a:t>14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D62D18"/>
                </a:solidFill>
                <a:latin typeface="Inter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71616"/>
                </a:solidFill>
                <a:latin typeface="Inter"/>
              </a:rPr>
              <a:t>Five Detectors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25296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5B5754"/>
                </a:solidFill>
                <a:latin typeface="Inter"/>
              </a:rPr>
              <a:t>Consistent structure, class-specific proof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11201400" cy="502920"/>
          </a:xfrm>
          <a:prstGeom prst="rect">
            <a:avLst/>
          </a:prstGeom>
          <a:solidFill>
            <a:srgbClr val="F7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1828800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>
                <a:solidFill>
                  <a:srgbClr val="5B5754"/>
                </a:solidFill>
                <a:latin typeface="Inter"/>
              </a:rPr>
              <a:t>VULNERABILITY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47872" y="1828800"/>
            <a:ext cx="7772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>
                <a:solidFill>
                  <a:srgbClr val="5B5754"/>
                </a:solidFill>
                <a:latin typeface="Inter"/>
              </a:rPr>
              <a:t>CWE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9432" y="1828800"/>
            <a:ext cx="960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>
                <a:solidFill>
                  <a:srgbClr val="5B5754"/>
                </a:solidFill>
                <a:latin typeface="Inter"/>
              </a:rPr>
              <a:t>OWASP '21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33872" y="1828800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>
                <a:solidFill>
                  <a:srgbClr val="5B5754"/>
                </a:solidFill>
                <a:latin typeface="Inter"/>
              </a:rPr>
              <a:t>PROOF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48672" y="1828800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>
                <a:solidFill>
                  <a:srgbClr val="5B5754"/>
                </a:solidFill>
                <a:latin typeface="Inter"/>
              </a:rPr>
              <a:t>MAX SEVERITY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331720"/>
            <a:ext cx="112014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2331720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71616"/>
                </a:solidFill>
                <a:latin typeface="Inter"/>
              </a:rPr>
              <a:t>SQL Injection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331720"/>
            <a:ext cx="777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CWE-89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331720"/>
            <a:ext cx="960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A03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33872" y="2331720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Error signature + boolean/time blind signals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21240" y="2487168"/>
            <a:ext cx="1417320" cy="292608"/>
          </a:xfrm>
          <a:prstGeom prst="rect">
            <a:avLst/>
          </a:prstGeom>
          <a:solidFill>
            <a:srgbClr val="B71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050" b="1" spc="60">
                <a:solidFill>
                  <a:srgbClr val="FFFFFF"/>
                </a:solidFill>
                <a:latin typeface="Inter"/>
              </a:rPr>
              <a:t>CRITICAL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20" y="2971800"/>
            <a:ext cx="11201400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02920" y="2971800"/>
            <a:ext cx="11201400" cy="640080"/>
          </a:xfrm>
          <a:prstGeom prst="rect">
            <a:avLst/>
          </a:prstGeom>
          <a:solidFill>
            <a:srgbClr val="F7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7512" y="2971800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71616"/>
                </a:solidFill>
                <a:latin typeface="Inter"/>
              </a:rPr>
              <a:t>Cross-Site Scripting (XSS)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7872" y="2971800"/>
            <a:ext cx="777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CWE-79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9432" y="2971800"/>
            <a:ext cx="960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A03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33872" y="2971800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Browser-executed DOM mutation (Chromium)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21240" y="3127248"/>
            <a:ext cx="1417320" cy="292608"/>
          </a:xfrm>
          <a:prstGeom prst="rect">
            <a:avLst/>
          </a:prstGeom>
          <a:solidFill>
            <a:srgbClr val="D62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050" b="1" spc="60">
                <a:solidFill>
                  <a:srgbClr val="FFFFFF"/>
                </a:solidFill>
                <a:latin typeface="Inter"/>
              </a:rPr>
              <a:t>HIGH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02920" y="3611880"/>
            <a:ext cx="11201400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02920" y="3611880"/>
            <a:ext cx="112014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7512" y="3611880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71616"/>
                </a:solidFill>
                <a:latin typeface="Inter"/>
              </a:rPr>
              <a:t>Broken Access Control / IDOR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47872" y="3611880"/>
            <a:ext cx="777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CWE-639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3611880"/>
            <a:ext cx="960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A01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3872" y="3611880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Cross-account object read + unauth control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921240" y="3767328"/>
            <a:ext cx="1417320" cy="292608"/>
          </a:xfrm>
          <a:prstGeom prst="rect">
            <a:avLst/>
          </a:prstGeom>
          <a:solidFill>
            <a:srgbClr val="D62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050" b="1" spc="60">
                <a:solidFill>
                  <a:srgbClr val="FFFFFF"/>
                </a:solidFill>
                <a:latin typeface="Inter"/>
              </a:rPr>
              <a:t>HIGH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02920" y="4251960"/>
            <a:ext cx="11201400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502920" y="4251960"/>
            <a:ext cx="11201400" cy="640080"/>
          </a:xfrm>
          <a:prstGeom prst="rect">
            <a:avLst/>
          </a:prstGeom>
          <a:solidFill>
            <a:srgbClr val="F7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7512" y="4251960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71616"/>
                </a:solidFill>
                <a:latin typeface="Inter"/>
              </a:rPr>
              <a:t>Server-Side Request Forgery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47872" y="4251960"/>
            <a:ext cx="777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CWE-918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99432" y="4251960"/>
            <a:ext cx="960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A10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33872" y="4251960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Out-of-band callback on unguessable path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21240" y="4407408"/>
            <a:ext cx="1417320" cy="292608"/>
          </a:xfrm>
          <a:prstGeom prst="rect">
            <a:avLst/>
          </a:prstGeom>
          <a:solidFill>
            <a:srgbClr val="D62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050" b="1" spc="60">
                <a:solidFill>
                  <a:srgbClr val="FFFFFF"/>
                </a:solidFill>
                <a:latin typeface="Inter"/>
              </a:rPr>
              <a:t>HIGH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02920" y="4892040"/>
            <a:ext cx="11201400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502920" y="4892040"/>
            <a:ext cx="112014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67512" y="4892040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71616"/>
                </a:solidFill>
                <a:latin typeface="Inter"/>
              </a:rPr>
              <a:t>XXE Injection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47872" y="4892040"/>
            <a:ext cx="777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CWE-611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99432" y="4892040"/>
            <a:ext cx="960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A05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33872" y="4892040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5754"/>
                </a:solidFill>
                <a:latin typeface="Inter"/>
              </a:rPr>
              <a:t>OOB canary + safe file reflection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921240" y="5047488"/>
            <a:ext cx="1417320" cy="292608"/>
          </a:xfrm>
          <a:prstGeom prst="rect">
            <a:avLst/>
          </a:prstGeom>
          <a:solidFill>
            <a:srgbClr val="B71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050" b="1" spc="60">
                <a:solidFill>
                  <a:srgbClr val="FFFFFF"/>
                </a:solidFill>
                <a:latin typeface="Inter"/>
              </a:rPr>
              <a:t>CRITICAL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02920" y="5532120"/>
            <a:ext cx="11201400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502920" y="1828800"/>
            <a:ext cx="11201400" cy="3703320"/>
          </a:xfrm>
          <a:prstGeom prst="rect">
            <a:avLst/>
          </a:prstGeom>
          <a:noFill/>
          <a:ln w="12700">
            <a:solidFill>
              <a:srgbClr val="AAA6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60">
                <a:solidFill>
                  <a:srgbClr val="676360"/>
                </a:solidFill>
                <a:latin typeface="Inter"/>
              </a:rPr>
              <a:t>VULNVISTA  |  AUTOMATED WEB VULNERABILITY SCANNER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76360"/>
                </a:solidFill>
                <a:latin typeface="Inter"/>
              </a:rPr>
              <a:t>15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62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D62D18"/>
                </a:solidFill>
                <a:latin typeface="Inter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71616"/>
                </a:solidFill>
                <a:latin typeface="Inter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111556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800"/>
              </a:spcAft>
            </a:pPr>
            <a:r>
              <a:rPr sz="1450" b="1">
                <a:solidFill>
                  <a:srgbClr val="D62D18"/>
                </a:solidFill>
                <a:latin typeface="Inter"/>
              </a:rPr>
              <a:t>▸  Evidence over assumption</a:t>
            </a:r>
            <a:r>
              <a:rPr sz="1450">
                <a:solidFill>
                  <a:srgbClr val="171616"/>
                </a:solidFill>
                <a:latin typeface="Inter"/>
              </a:rPr>
              <a:t>  Every one of the five detectors requires a positive, observable proof — a reflected-and-executed canary, a divergent boolean response, a callback hit — before reporting a finding.</a:t>
            </a:r>
          </a:p>
          <a:p>
            <a:pPr>
              <a:lnSpc>
                <a:spcPct val="125000"/>
              </a:lnSpc>
              <a:spcAft>
                <a:spcPts val="1800"/>
              </a:spcAft>
            </a:pPr>
            <a:r>
              <a:rPr sz="1450" b="1">
                <a:solidFill>
                  <a:srgbClr val="D62D18"/>
                </a:solidFill>
                <a:latin typeface="Inter"/>
              </a:rPr>
              <a:t>▸  One architecture, five proofs</a:t>
            </a:r>
            <a:r>
              <a:rPr sz="1450">
                <a:solidFill>
                  <a:srgbClr val="171616"/>
                </a:solidFill>
                <a:latin typeface="Inter"/>
              </a:rPr>
              <a:t>  All detectors share the same BaseDetector/ScanContext/DetectorResult contract, generic-defaults → lab-preset → explicit-config layering, and pure/testable classify() decision functions.</a:t>
            </a:r>
          </a:p>
          <a:p>
            <a:pPr>
              <a:lnSpc>
                <a:spcPct val="125000"/>
              </a:lnSpc>
              <a:spcAft>
                <a:spcPts val="1800"/>
              </a:spcAft>
            </a:pPr>
            <a:r>
              <a:rPr sz="1450" b="1">
                <a:solidFill>
                  <a:srgbClr val="D62D18"/>
                </a:solidFill>
                <a:latin typeface="Inter"/>
              </a:rPr>
              <a:t>▸  Safety-conscious by design</a:t>
            </a:r>
            <a:r>
              <a:rPr sz="1450">
                <a:solidFill>
                  <a:srgbClr val="171616"/>
                </a:solidFill>
                <a:latin typeface="Inter"/>
              </a:rPr>
              <a:t>  Synthetic accounts, read-only requests, harmless DOM-only canaries, and automatic state restoration keep every check safe to run against real targets.</a:t>
            </a:r>
          </a:p>
          <a:p>
            <a:pPr>
              <a:lnSpc>
                <a:spcPct val="125000"/>
              </a:lnSpc>
              <a:spcAft>
                <a:spcPts val="1800"/>
              </a:spcAft>
            </a:pPr>
            <a:r>
              <a:rPr sz="1450" b="1">
                <a:solidFill>
                  <a:srgbClr val="D62D18"/>
                </a:solidFill>
                <a:latin typeface="Inter"/>
              </a:rPr>
              <a:t>▸  Broad OWASP Top 10 coverage</a:t>
            </a:r>
            <a:r>
              <a:rPr sz="1450">
                <a:solidFill>
                  <a:srgbClr val="171616"/>
                </a:solidFill>
                <a:latin typeface="Inter"/>
              </a:rPr>
              <a:t>  Injection (A03 × 2), Broken Access Control (A01), SSRF (A10), and Security Misconfiguration (A05) are all represented.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98932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D62D18"/>
                </a:solidFill>
                <a:latin typeface="Inter"/>
              </a:rPr>
              <a:t>Thank you.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60">
                <a:solidFill>
                  <a:srgbClr val="676360"/>
                </a:solidFill>
                <a:latin typeface="Inter"/>
              </a:rPr>
              <a:t>VULNVISTA  |  AUTOMATED WEB VULNERABILITY SCANNER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76360"/>
                </a:solidFill>
                <a:latin typeface="Inter"/>
              </a:rPr>
              <a:t>16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D8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2988</Words>
  <Application>Microsoft Office PowerPoint</Application>
  <PresentationFormat>Widescreen</PresentationFormat>
  <Paragraphs>332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Consolas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Sunil Sapkota</cp:lastModifiedBy>
  <cp:revision>2</cp:revision>
  <dcterms:created xsi:type="dcterms:W3CDTF">2013-01-27T09:14:16Z</dcterms:created>
  <dcterms:modified xsi:type="dcterms:W3CDTF">2026-09-06T03:05:11Z</dcterms:modified>
  <cp:category/>
</cp:coreProperties>
</file>