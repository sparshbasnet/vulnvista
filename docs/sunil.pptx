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777240" cy="7772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71616"/>
                </a:solidFill>
                <a:latin typeface="Inter"/>
              </a:rP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019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D62D18"/>
                </a:solidFill>
                <a:latin typeface="Inter"/>
              </a:rPr>
              <a:t>VULNVISTA  •  SECURITY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40280"/>
            <a:ext cx="9692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71616"/>
                </a:solidFill>
                <a:latin typeface="Inter"/>
              </a:rPr>
              <a:t>Detecting Five Web &amp; Network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71616"/>
                </a:solidFill>
                <a:latin typeface="Inter"/>
              </a:rPr>
              <a:t>Vulnerability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429000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B5754"/>
                </a:solidFill>
                <a:latin typeface="Inter"/>
              </a:rPr>
              <a:t>Evidence-based detector design and implementation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114800"/>
            <a:ext cx="41148" cy="141732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4114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71616"/>
                </a:solidFill>
                <a:latin typeface="Inter"/>
              </a:rPr>
              <a:t>Sunil Sapkota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4805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5754"/>
                </a:solidFill>
                <a:latin typeface="Inter"/>
              </a:rPr>
              <a:t>Contributor — Detector Engineering, VulnVista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8006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5754"/>
                </a:solidFill>
                <a:latin typeface="Inter"/>
              </a:rPr>
              <a:t>Advance Project · NIT6150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1206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5754"/>
                </a:solidFill>
                <a:latin typeface="Inter"/>
              </a:rPr>
              <a:t>September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5806440"/>
            <a:ext cx="2468880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OS Command Injection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3984" y="5806440"/>
            <a:ext cx="2368296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Weak Authentication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58584" y="5806440"/>
            <a:ext cx="277063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Sensitive File Exposure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5806440"/>
            <a:ext cx="2368296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Vulnerable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90120" y="5806440"/>
            <a:ext cx="2670048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Weak TLS Configuration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Five detectors, verified against git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7772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91640"/>
            <a:ext cx="39319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Design Philosophy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691640"/>
            <a:ext cx="60350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Why every detector proves, never assumes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231136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231136"/>
            <a:ext cx="7772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31136"/>
            <a:ext cx="39319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Git History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231136"/>
            <a:ext cx="60350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Confirming the five via git log --author --grep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770632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2770632"/>
            <a:ext cx="7772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70632"/>
            <a:ext cx="39319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OS Command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770632"/>
            <a:ext cx="60350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Marker-echo and blind-timing proof (CWE-78)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310128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3310128"/>
            <a:ext cx="7772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310128"/>
            <a:ext cx="39319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Weak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310128"/>
            <a:ext cx="60350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Lockout and enumeration oracles (CWE-307)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849624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3849624"/>
            <a:ext cx="7772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849624"/>
            <a:ext cx="39319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Sensitive File Exposure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849624"/>
            <a:ext cx="60350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Baseline-differential path probing (CWE-538)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4389120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4389120"/>
            <a:ext cx="7772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389120"/>
            <a:ext cx="39319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Vulnerable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389120"/>
            <a:ext cx="60350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nmap + NVD + Exploit-DB chain (CWE-1104)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928616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4928616"/>
            <a:ext cx="7772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928616"/>
            <a:ext cx="39319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Weak TLS Configuration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4928616"/>
            <a:ext cx="60350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SSLyze protocol/cipher/cert/CVE checks (CWE-327)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5468112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5468112"/>
            <a:ext cx="7772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468112"/>
            <a:ext cx="39319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Results &amp; Takeaways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5468112"/>
            <a:ext cx="603504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Shared architecture and what it demonstrates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Prove It, Don't Assume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The methodology shared by all five detectors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171616"/>
                </a:solidFill>
                <a:latin typeface="Inter"/>
              </a:rPr>
              <a:t>Every detector Sunil built follows the same rule: a finding is only reported when the target is observed actually behaving vulnerably — never inferred from a status code or a guess.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51760"/>
            <a:ext cx="5440680" cy="169164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651760"/>
            <a:ext cx="544068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0779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Independent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5754"/>
                </a:solidFill>
                <a:latin typeface="Inter"/>
              </a:rPr>
              <a:t>Two or more unrelated proofs per class (e.g. output marker + timing delay, or nmap fingerprint + NVD record) so one signal's noise can't create a false positive.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651760"/>
            <a:ext cx="5440680" cy="169164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651760"/>
            <a:ext cx="544068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90779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Generic-first, lab-aware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319272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5754"/>
                </a:solidFill>
                <a:latin typeface="Inter"/>
              </a:rPr>
              <a:t>Detection logic is target-agnostic — forms, query strings, and open ports are auto-discovered. Bundled labs (DVWA, Juice Shop, Metasploitable2) get opt-in presets, never special-cased logic.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26279"/>
            <a:ext cx="5440680" cy="169164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526279"/>
            <a:ext cx="544068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82311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Config always wins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93791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5754"/>
                </a:solidFill>
                <a:latin typeface="Inter"/>
              </a:rPr>
              <a:t>ScanContext.extra (from Target.scan_config) overrides both generic defaults and lab presets, so any real target can be pointed at explicitly.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79"/>
            <a:ext cx="5440680" cy="169164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526279"/>
            <a:ext cx="544068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782311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Safety by construction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193791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5754"/>
                </a:solidFill>
                <a:latin typeface="Inter"/>
              </a:rPr>
              <a:t>Baseline/differential comparisons, small fixed probe budgets, read-only nmap script categories, and never executing a fetched exploit keep every check safe to run.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Confirmed by Git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The five detector features, verified directly from commit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11201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20140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10744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SHELL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A61B0D"/>
                </a:solidFill>
                <a:latin typeface="Consolas"/>
              </a:rPr>
              <a:t>$ git --no-pager log --author="suneelsapkota9@gmail.com" -i \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71616"/>
                </a:solidFill>
                <a:latin typeface="Consolas"/>
              </a:rPr>
              <a:t>    --grep="Command Injection" --grep="Vulnerable Services" \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71616"/>
                </a:solidFill>
                <a:latin typeface="Consolas"/>
              </a:rPr>
              <a:t>    --grep="Sensitive Files" --grep="Weak Authentication" --grep="Weak TLS" \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71616"/>
                </a:solidFill>
                <a:latin typeface="Consolas"/>
              </a:rPr>
              <a:t>    --pretty=format:"%h %ad %s" --date=short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99232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3dfb667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99232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999232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fix(scans): keep discovery when switching detector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53435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62D18"/>
                </a:solidFill>
                <a:latin typeface="Consolas"/>
              </a:rPr>
              <a:t>2117ce3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253435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53435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616"/>
                </a:solidFill>
                <a:latin typeface="Inter"/>
              </a:rPr>
              <a:t>feat(command-injection): optional OWASP ZAP cross-check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07638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62D18"/>
                </a:solidFill>
                <a:latin typeface="Consolas"/>
              </a:rPr>
              <a:t>d839c32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07638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507638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616"/>
                </a:solidFill>
                <a:latin typeface="Inter"/>
              </a:rPr>
              <a:t>Add weak TLS test service and update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61841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3afd64e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61841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761841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Merge pull request #10: feat/detector/vulnerable-services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016044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62D18"/>
                </a:solidFill>
                <a:latin typeface="Consolas"/>
              </a:rPr>
              <a:t>d5e57ee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016044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016044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616"/>
                </a:solidFill>
                <a:latin typeface="Inter"/>
              </a:rPr>
              <a:t>feat: add vulnerable services detector with nmap and NVD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70247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1770689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270247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270247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feat: integrate Metasploitable2 as a target for vulnerable services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524450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82df509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524450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524450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Merge pull request #9: feat/detector/sensitive-files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778653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62D18"/>
                </a:solidFill>
                <a:latin typeface="Consolas"/>
              </a:rPr>
              <a:t>6943767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778653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778653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616"/>
                </a:solidFill>
                <a:latin typeface="Inter"/>
              </a:rPr>
              <a:t>feat: add sensitive files detector and integrate into scanning profiles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032856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2b1c8b5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032856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032856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Merge pull request #8: feat/detector/weak-auth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287059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5d4700c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5287059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5287059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feat: enhance target model and scanning capabilities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541262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62D18"/>
                </a:solidFill>
                <a:latin typeface="Consolas"/>
              </a:rPr>
              <a:t>fc529de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5541262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5541262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616"/>
                </a:solidFill>
                <a:latin typeface="Inter"/>
              </a:rPr>
              <a:t>feat: add weak authentication detector and integrate into scanning profiles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795465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6e932ee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08760" y="5795465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5795465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Merge pull request #5: feat/detector/command-injection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049668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62D18"/>
                </a:solidFill>
                <a:latin typeface="Consolas"/>
              </a:rPr>
              <a:t>77c31f7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8760" y="6049668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0" y="6049668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616"/>
                </a:solidFill>
                <a:latin typeface="Inter"/>
              </a:rPr>
              <a:t>feat: add OS command injection detector and associated tests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06247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D62D18"/>
                </a:solidFill>
                <a:latin typeface="Inter"/>
              </a:rPr>
              <a:t>Highlighted rows = the five feature commits this deck covers.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4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OS Command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596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CWE: CWE-78</a:t>
            </a:r>
          </a:p>
        </p:txBody>
      </p:sp>
      <p:sp>
        <p:nvSpPr>
          <p:cNvPr id="6" name="Rectangle 5"/>
          <p:cNvSpPr/>
          <p:nvPr/>
        </p:nvSpPr>
        <p:spPr>
          <a:xfrm>
            <a:off x="2327148" y="1298448"/>
            <a:ext cx="20802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OWASP: A03:2021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298448"/>
            <a:ext cx="2395728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SEVERITY: CRITICAL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298448"/>
            <a:ext cx="1449324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CVSS: 9.8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71616"/>
                </a:solidFill>
                <a:latin typeface="Inter"/>
              </a:rPr>
              <a:t>Proves the target executes attacker-controlled shell commands — never assumed from response shape alone. Injectable fields are auto-discovered from HTML forms and query strings; a known lab host (DVWA) resolves via a preset.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DETECTION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Baseline probe</a:t>
            </a:r>
            <a:r>
              <a:rPr sz="1350">
                <a:solidFill>
                  <a:srgbClr val="171616"/>
                </a:solidFill>
                <a:latin typeface="Inter"/>
              </a:rPr>
              <a:t>  submit a benign value (127.0.0.1) and record response time as the control.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Output-based signal</a:t>
            </a:r>
            <a:r>
              <a:rPr sz="1350">
                <a:solidFill>
                  <a:srgbClr val="171616"/>
                </a:solidFill>
                <a:latin typeface="Inter"/>
              </a:rPr>
              <a:t>  inject ; echo &lt;random-marker&gt; — the marker can only appear in the response if the shell actually ran echo.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Blind time-based signal</a:t>
            </a:r>
            <a:r>
              <a:rPr sz="1350">
                <a:solidFill>
                  <a:srgbClr val="171616"/>
                </a:solidFill>
                <a:latin typeface="Inter"/>
              </a:rPr>
              <a:t>  inject ; sleep 5 and compare elapsed time against the baseline delta (≥4000ms threshold), catching cases with no visible output.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Verdict</a:t>
            </a:r>
            <a:r>
              <a:rPr sz="1350">
                <a:solidFill>
                  <a:srgbClr val="171616"/>
                </a:solidFill>
                <a:latin typeface="Inter"/>
              </a:rPr>
              <a:t>  CONFIRMED/HIGH when the marker is reflected; CONFIRMED/MEDIUM on timing alone; NOT_DETECTED otherwise.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1 OF 5 —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OS Command Injection — Code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backend/app/scanners/command_injection.py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675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67512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6172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classify(marker_reflected, time_delta_ms, threshold_ms):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marker_reflected and time_delta_ms &gt;= threshold_ms: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"HIGH",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"output marker reflected and response delayed")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marker_reflected: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"HIGH",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"injected output marker reflected in response")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time_delta_ms &gt;= threshold_ms: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"MEDIUM",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"blind time-based delay observed")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return Decision(False, "NOT_DETECTED", "LOW",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"no injected command output or timing delay observed")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150" i="1">
                <a:solidFill>
                  <a:srgbClr val="676360"/>
                </a:solidFill>
                <a:latin typeface="Consolas"/>
              </a:rPr>
              <a:t># payloads: '127.0.0.1; echo CMDINJ-&lt;token&gt;'</a:t>
            </a:r>
          </a:p>
          <a:p>
            <a:pPr>
              <a:lnSpc>
                <a:spcPct val="125000"/>
              </a:lnSpc>
            </a:pPr>
            <a:r>
              <a:rPr sz="1150" i="1">
                <a:solidFill>
                  <a:srgbClr val="676360"/>
                </a:solidFill>
                <a:latin typeface="Consolas"/>
              </a:rPr>
              <a:t>#           '127.0.0.1; sleep 5'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EVIDENCE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4884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marker</a:t>
            </a:r>
            <a:r>
              <a:rPr sz="1200">
                <a:solidFill>
                  <a:srgbClr val="171616"/>
                </a:solidFill>
                <a:latin typeface="Inter"/>
              </a:rPr>
              <a:t>  unique CMDINJ-xxxx token generated per scan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marker_reflected</a:t>
            </a:r>
            <a:r>
              <a:rPr sz="1200">
                <a:solidFill>
                  <a:srgbClr val="171616"/>
                </a:solidFill>
                <a:latin typeface="Inter"/>
              </a:rPr>
              <a:t>  boolean — token found in response body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baseline_ms / blind_probe_ms</a:t>
            </a:r>
            <a:r>
              <a:rPr sz="1200">
                <a:solidFill>
                  <a:srgbClr val="171616"/>
                </a:solidFill>
                <a:latin typeface="Inter"/>
              </a:rPr>
              <a:t>  timing pair for the delta check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output_snippet</a:t>
            </a:r>
            <a:r>
              <a:rPr sz="1200">
                <a:solidFill>
                  <a:srgbClr val="171616"/>
                </a:solidFill>
                <a:latin typeface="Inter"/>
              </a:rPr>
              <a:t>  surrounding response text, truncated to 500 chars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candidate_source</a:t>
            </a:r>
            <a:r>
              <a:rPr sz="1200">
                <a:solidFill>
                  <a:srgbClr val="171616"/>
                </a:solidFill>
                <a:latin typeface="Inter"/>
              </a:rPr>
              <a:t>  auto-discovered vs. explicit configuration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434840"/>
            <a:ext cx="4297680" cy="155448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4434840"/>
            <a:ext cx="4297680" cy="27940"/>
          </a:xfrm>
          <a:prstGeom prst="rect">
            <a:avLst/>
          </a:prstGeom>
          <a:solidFill>
            <a:srgbClr val="167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6177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67249"/>
                </a:solidFill>
                <a:latin typeface="Inter"/>
              </a:rPr>
              <a:t>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965192"/>
            <a:ext cx="3840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Never pass user input to a shell. Use parameterised process APIs (execve-style argument vectors) instead of shell string concatenation, validate/allowlist input, and strip shell metacharacters.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Weak Authentication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281635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CWE: CWE-307 / CWE-203</a:t>
            </a:r>
          </a:p>
        </p:txBody>
      </p:sp>
      <p:sp>
        <p:nvSpPr>
          <p:cNvPr id="6" name="Rectangle 5"/>
          <p:cNvSpPr/>
          <p:nvPr/>
        </p:nvSpPr>
        <p:spPr>
          <a:xfrm>
            <a:off x="3483864" y="1298448"/>
            <a:ext cx="20802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OWASP: A07:2021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28716" y="1298448"/>
            <a:ext cx="1975104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SEVERITY: 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8412" y="1298448"/>
            <a:ext cx="2080260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CVSS: 6.5 – 7.5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71616"/>
                </a:solidFill>
                <a:latin typeface="Inter"/>
              </a:rPr>
              <a:t>Targets two independent authentication weaknesses using only synthetic credentials — no real account is ever targeted and no password is guessed or cracked.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DETECTION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Login discovery</a:t>
            </a:r>
            <a:r>
              <a:rPr sz="1350">
                <a:solidFill>
                  <a:srgbClr val="171616"/>
                </a:solidFill>
                <a:latin typeface="Inter"/>
              </a:rPr>
              <a:t>  parse the target's own page for a &lt;form&gt; with a password field; a short fallback list of common login paths is tried if none is found, honoring an explicit login_path override.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Rate-limit / lockout check</a:t>
            </a:r>
            <a:r>
              <a:rPr sz="1350">
                <a:solidFill>
                  <a:srgbClr val="171616"/>
                </a:solidFill>
                <a:latin typeface="Inter"/>
              </a:rPr>
              <a:t>  fire a small fixed budget (12) of wrong-password attempts and watch for HTTP 429 or a lockout/CAPTCHA hint — absence of either means no brute-force protection.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Username enumeration</a:t>
            </a:r>
            <a:r>
              <a:rPr sz="1350">
                <a:solidFill>
                  <a:srgbClr val="171616"/>
                </a:solidFill>
                <a:latin typeface="Inter"/>
              </a:rPr>
              <a:t>  compare the response for a known-valid account vs. a synthetic, guaranteed-unregistered one; a status-code or body-length differential is a direct oracle.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7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2 OF 5 —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Weak Authentication Controls — Code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backend/app/scanners/weak_auth.py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675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67512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6172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classify(enumeration_leaked, lockout_triggered,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 attempts_made, enumeration_checked=True):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enumeration_leaked and not lockout_triggered: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"HIGH",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f"enumeration confirmed and no lockout after "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f"{attempts_made} failed attempts", ...)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enumeration_leaked: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"HIGH", ...)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not lockout_triggered: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"MEDIUM",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f"no lockout after {attempts_made} attempts", ...)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return Decision(False, "NOT_DETECTED", "LOW", 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EVIDENCE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4884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login_attempt_statuses</a:t>
            </a:r>
            <a:r>
              <a:rPr sz="1200">
                <a:solidFill>
                  <a:srgbClr val="171616"/>
                </a:solidFill>
                <a:latin typeface="Inter"/>
              </a:rPr>
              <a:t>  HTTP status of each of the 12 probe attempts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lockout_triggered</a:t>
            </a:r>
            <a:r>
              <a:rPr sz="1200">
                <a:solidFill>
                  <a:srgbClr val="171616"/>
                </a:solidFill>
                <a:latin typeface="Inter"/>
              </a:rPr>
              <a:t>  boolean — 429 or lockout keyword observed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enumeration_method</a:t>
            </a:r>
            <a:r>
              <a:rPr sz="1200">
                <a:solidFill>
                  <a:srgbClr val="171616"/>
                </a:solidFill>
                <a:latin typeface="Inter"/>
              </a:rPr>
              <a:t>  oracle_endpoint vs. login_differential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known/unknown_username_signal</a:t>
            </a:r>
            <a:r>
              <a:rPr sz="1200">
                <a:solidFill>
                  <a:srgbClr val="171616"/>
                </a:solidFill>
                <a:latin typeface="Inter"/>
              </a:rPr>
              <a:t>  the differential compared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rate_limit_attempts</a:t>
            </a:r>
            <a:r>
              <a:rPr sz="1200">
                <a:solidFill>
                  <a:srgbClr val="171616"/>
                </a:solidFill>
                <a:latin typeface="Inter"/>
              </a:rPr>
              <a:t>  budget used — always small &amp; fixed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434840"/>
            <a:ext cx="4297680" cy="155448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4434840"/>
            <a:ext cx="4297680" cy="27940"/>
          </a:xfrm>
          <a:prstGeom prst="rect">
            <a:avLst/>
          </a:prstGeom>
          <a:solidFill>
            <a:srgbClr val="167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6177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67249"/>
                </a:solidFill>
                <a:latin typeface="Inter"/>
              </a:rPr>
              <a:t>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965192"/>
            <a:ext cx="3840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Return identical responses for existing and non-existing accounts on every auth-adjacent endpoint. Add rate limiting and progressive lockout keyed by account and source IP.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Sensitive File Exposure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376275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CWE: CWE-538 (+527/530/532/540)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0268" y="1298448"/>
            <a:ext cx="20802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OWASP: A05:2021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298448"/>
            <a:ext cx="2185416" cy="292608"/>
          </a:xfrm>
          <a:prstGeom prst="rect">
            <a:avLst/>
          </a:prstGeom>
          <a:solidFill>
            <a:srgbClr val="FF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76180E"/>
                </a:solidFill>
                <a:latin typeface="Inter"/>
              </a:rPr>
              <a:t>SEVERITY: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9025128" y="1298448"/>
            <a:ext cx="2080260" cy="292608"/>
          </a:xfrm>
          <a:prstGeom prst="rect">
            <a:avLst/>
          </a:prstGeom>
          <a:solidFill>
            <a:srgbClr val="FF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76180E"/>
                </a:solidFill>
                <a:latin typeface="Inter"/>
              </a:rPr>
              <a:t>CVSS: up to 9.1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71616"/>
                </a:solidFill>
                <a:latin typeface="Inter"/>
              </a:rPr>
              <a:t>Checks ~30 well-known backup, config, credential, source-map, log, and VCS-metadata paths that apply to any web stack — never trusting a 200 status alone, since SPAs often fall back to index.html for every route.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DETECTION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Baseline fingerprint</a:t>
            </a:r>
            <a:r>
              <a:rPr sz="1350">
                <a:solidFill>
                  <a:srgbClr val="171616"/>
                </a:solidFill>
                <a:latin typeface="Inter"/>
              </a:rPr>
              <a:t>  GET one random, guaranteed-nonexistent path first, recording its status and body length as the target's genuine "not found" signature.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Differential exposure test</a:t>
            </a:r>
            <a:r>
              <a:rPr sz="1350">
                <a:solidFill>
                  <a:srgbClr val="171616"/>
                </a:solidFill>
                <a:latin typeface="Inter"/>
              </a:rPr>
              <a:t>  each candidate only counts as exposed if it differs from that baseline (status &lt; 400 and not status+length-identical to the baseline).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Category-based severity</a:t>
            </a:r>
            <a:r>
              <a:rPr sz="1350">
                <a:solidFill>
                  <a:srgbClr val="171616"/>
                </a:solidFill>
                <a:latin typeface="Inter"/>
              </a:rPr>
              <a:t>  credential stores are CRITICAL, config/VCS metadata HIGH, backups/logs MEDIUM, source maps/hidden files LOW — worst category drives the finding severity.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Privacy-safe evidence</a:t>
            </a:r>
            <a:r>
              <a:rPr sz="1350">
                <a:solidFill>
                  <a:srgbClr val="171616"/>
                </a:solidFill>
                <a:latin typeface="Inter"/>
              </a:rPr>
              <a:t>  only status, content-type, and content-length are recorded — response bodies are never captured or stored.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9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3 OF 5 —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Sensitive File Exposure — Code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backend/app/scanners/sensitive_files.py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675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67512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6172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is_exposed(status_code, content_length,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   baseline_status, baseline_length):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status_code == 404 or status_code &gt;= 400: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False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return not (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status_code == baseline_status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and content_length == baseline_length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150" i="1">
                <a:solidFill>
                  <a:srgbClr val="676360"/>
                </a:solidFill>
                <a:latin typeface="Consolas"/>
              </a:rPr>
              <a:t># Candidates span: .git/HEAD, .env, backup.sql,</a:t>
            </a:r>
          </a:p>
          <a:p>
            <a:pPr>
              <a:lnSpc>
                <a:spcPct val="125000"/>
              </a:lnSpc>
            </a:pPr>
            <a:r>
              <a:rPr sz="1150" i="1">
                <a:solidFill>
                  <a:srgbClr val="676360"/>
                </a:solidFill>
                <a:latin typeface="Consolas"/>
              </a:rPr>
              <a:t># .aws/credentials, main.js.map, .htpasswd,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EVIDENCE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4884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exposed_files</a:t>
            </a:r>
            <a:r>
              <a:rPr sz="1200">
                <a:solidFill>
                  <a:srgbClr val="171616"/>
                </a:solidFill>
                <a:latin typeface="Inter"/>
              </a:rPr>
              <a:t>  path, category, status, content-type, length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checked_paths / checked_count</a:t>
            </a:r>
            <a:r>
              <a:rPr sz="1200">
                <a:solidFill>
                  <a:srgbClr val="171616"/>
                </a:solidFill>
                <a:latin typeface="Inter"/>
              </a:rPr>
              <a:t>  full candidate list actually probed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worst_category</a:t>
            </a:r>
            <a:r>
              <a:rPr sz="1200">
                <a:solidFill>
                  <a:srgbClr val="171616"/>
                </a:solidFill>
                <a:latin typeface="Inter"/>
              </a:rPr>
              <a:t>  drives severity: credential_store → CRITICAL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baseline</a:t>
            </a:r>
            <a:r>
              <a:rPr sz="1200">
                <a:solidFill>
                  <a:srgbClr val="171616"/>
                </a:solidFill>
                <a:latin typeface="Inter"/>
              </a:rPr>
              <a:t>  target's own 404/SPA-fallback fingerprint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434840"/>
            <a:ext cx="4297680" cy="155448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4434840"/>
            <a:ext cx="4297680" cy="27940"/>
          </a:xfrm>
          <a:prstGeom prst="rect">
            <a:avLst/>
          </a:prstGeom>
          <a:solidFill>
            <a:srgbClr val="167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6177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67249"/>
                </a:solidFill>
                <a:latin typeface="Inter"/>
              </a:rPr>
              <a:t>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965192"/>
            <a:ext cx="3840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Remove backup/config/VCS artifacts from the web root and deployment bundle; disable directory listing; exclude source maps from production; gate deploys on a disallowed-extension check.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Vulnerable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31318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CWE: CWE-1104 (+ per-CVE)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9332" y="1298448"/>
            <a:ext cx="20802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OWASP: A06:2021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044184" y="1298448"/>
            <a:ext cx="2395728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SEVERITY: CRITICAL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604504" y="1298448"/>
            <a:ext cx="2080260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CVSS: up to 9.8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71616"/>
                </a:solidFill>
                <a:latin typeface="Inter"/>
              </a:rPr>
              <a:t>Unlike the other four, this detector isn't scoped to one known web app — it targets any host and chains three specialised tools, each doing the part it's actually good at, to go from open port to verified, exploitable CVE.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DETECTION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nmap (-sV + default,safe NSE)</a:t>
            </a:r>
            <a:r>
              <a:rPr sz="1350">
                <a:solidFill>
                  <a:srgbClr val="171616"/>
                </a:solidFill>
                <a:latin typeface="Inter"/>
              </a:rPr>
              <a:t>  port discovery and service/version fingerprinting with CPE identifiers — avoids re-deriving a protocol handshake database from scratch.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NVD CVE API (by CPE)</a:t>
            </a:r>
            <a:r>
              <a:rPr sz="1350">
                <a:solidFill>
                  <a:srgbClr val="171616"/>
                </a:solidFill>
                <a:latin typeface="Inter"/>
              </a:rPr>
              <a:t>  "is this exact version actually vulnerable, and to what" — makes the detector general instead of a hardcoded CVE list.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searchsploit (offline Exploit-DB mirror)</a:t>
            </a:r>
            <a:r>
              <a:rPr sz="1350">
                <a:solidFill>
                  <a:srgbClr val="171616"/>
                </a:solidFill>
                <a:latin typeface="Inter"/>
              </a:rPr>
              <a:t>  "is there a public exploit for this CVE" — a real risk signal; exploits are only read for metadata, never downloaded or run.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Curated heuristic fallback</a:t>
            </a:r>
            <a:r>
              <a:rPr sz="1350">
                <a:solidFill>
                  <a:srgbClr val="171616"/>
                </a:solidFill>
                <a:latin typeface="Inter"/>
              </a:rPr>
              <a:t>  lab-only backdoors with no CVE record, and protocols insecure by design (telnet, rsh/rlogin/rexec, unauthenticated VNC), regardless of version.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4 OF 5 —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Vulnerable Services — 4-Step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From open port to verified, exploitable CVE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10512"/>
            <a:ext cx="502920" cy="502920"/>
          </a:xfrm>
          <a:prstGeom prst="rect">
            <a:avLst/>
          </a:prstGeom>
          <a:solidFill>
            <a:srgbClr val="17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54380" y="2313432"/>
            <a:ext cx="0" cy="630936"/>
          </a:xfrm>
          <a:prstGeom prst="line">
            <a:avLst/>
          </a:prstGeom>
          <a:ln w="19050">
            <a:solidFill>
              <a:srgbClr val="AAA6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34440" y="17830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Service Discovery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2148840"/>
            <a:ext cx="104241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2404872"/>
            <a:ext cx="992124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050">
                <a:solidFill>
                  <a:srgbClr val="171616"/>
                </a:solidFill>
                <a:latin typeface="Consolas"/>
              </a:rPr>
              <a:t>nmap -sV -Pn -T3 --script default,safe --top-ports 1000 -oX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B5754"/>
                </a:solidFill>
                <a:latin typeface="Inter"/>
              </a:rPr>
              <a:t>Fingerprints every open port's service name, product, version, and CPE identifier (cpe:/a:vendor:product:version). Only nmap's read-only default/safe NSE script categories run — vuln/exploit/intrusive are explicitly excluded.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44368"/>
            <a:ext cx="502920" cy="50292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4380" y="3447288"/>
            <a:ext cx="0" cy="630936"/>
          </a:xfrm>
          <a:prstGeom prst="line">
            <a:avLst/>
          </a:prstGeom>
          <a:ln w="19050">
            <a:solidFill>
              <a:srgbClr val="AAA6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34440" y="291693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NVD Verification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3282696"/>
            <a:ext cx="104241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538728"/>
            <a:ext cx="992124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050">
                <a:solidFill>
                  <a:srgbClr val="171616"/>
                </a:solidFill>
                <a:latin typeface="Consolas"/>
              </a:rPr>
              <a:t>GET services.nvd.nist.gov/.../cves/2.0?virtualMatchString=&lt;CPE 2.3&gt;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64845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B5754"/>
                </a:solidFill>
                <a:latin typeface="Inter"/>
              </a:rPr>
              <a:t>Each fingerprinted CPE is converted (CPE 2.2 → 2.3) and queried against the real NVD database — confirming the exact CVE(s), CVSS score, severity, and CWE for that specific product/version, instead of guessing from a static 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78224"/>
            <a:ext cx="502920" cy="502920"/>
          </a:xfrm>
          <a:prstGeom prst="rect">
            <a:avLst/>
          </a:prstGeom>
          <a:solidFill>
            <a:srgbClr val="A9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4380" y="4581144"/>
            <a:ext cx="0" cy="630936"/>
          </a:xfrm>
          <a:prstGeom prst="line">
            <a:avLst/>
          </a:prstGeom>
          <a:ln w="19050">
            <a:solidFill>
              <a:srgbClr val="AAA6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34440" y="40507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Exploit-DB PoC Check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4416552"/>
            <a:ext cx="104241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0472" y="4672584"/>
            <a:ext cx="992124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050">
                <a:solidFill>
                  <a:srgbClr val="171616"/>
                </a:solidFill>
                <a:latin typeface="Consolas"/>
              </a:rPr>
              <a:t>searchsploit --cve &lt;CVE-ID&gt; --json  (offline Exploit-DB mirror)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782312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B5754"/>
                </a:solidFill>
                <a:latin typeface="Inter"/>
              </a:rPr>
              <a:t>For every CVE NVD confirms, searchsploit is queried to see whether a public proof-of-concept exists. A CVE with a working public exploit is escalated to CRITICAL — metadata (EDB-ID, title) is recorded, nothing is ever downloaded or run.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212080"/>
            <a:ext cx="502920" cy="502920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1846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Heuristic Fallback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4440" y="5550408"/>
            <a:ext cx="104241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90472" y="5806440"/>
            <a:ext cx="992124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050">
                <a:solidFill>
                  <a:srgbClr val="171616"/>
                </a:solidFill>
                <a:latin typeface="Consolas"/>
              </a:rPr>
              <a:t>curated signature table: vsftpd 2.3.4, ingreslock:1524, distccd, UnrealIRCd, telnet, rsh/rlogin/rexec, VNC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91616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B5754"/>
                </a:solidFill>
                <a:latin typeface="Inter"/>
              </a:rPr>
              <a:t>Covers what NVD can't: lab-only backdoors with no CVE record (version string alone is damning), plus protocols insecure by design regardless of version — matched as SUSPECTED/MEDIUM unless the signature is a known backdoor (CONFIRMED/HIGH).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4 OF 5 —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Vulnerable Services — Code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backend/app/scanners/vulnerable_services.py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675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67512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HEURISTIC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6172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INSECURE_PROTOCOLS = {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"telnet": {"cwe": "CWE-319", "severity": "MEDIUM",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"description": "transmits credentials in cleartext"},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"shell": {"cwe": "CWE-306", "severity": "HIGH",  # rsh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"description": "trusted-host auth, not password-based"},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"vnc": {"cwe": "CWE-319", "severity": "MEDIUM",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"description": "weak/no auth over unencrypted channel"},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...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}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match_heuristics(services):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for svc in services: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if sig := known_cve_signature(svc): yield sig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elif insecure := INSECURE_PROTOCOLS.get(svc.service):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yield heuristic_match(svc, insecure)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EVIDENCE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4884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open_ports</a:t>
            </a:r>
            <a:r>
              <a:rPr sz="1200">
                <a:solidFill>
                  <a:srgbClr val="171616"/>
                </a:solidFill>
                <a:latin typeface="Inter"/>
              </a:rPr>
              <a:t>  port, protocol, service, product, version, CPEs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vulnerabilities[]</a:t>
            </a:r>
            <a:r>
              <a:rPr sz="1200">
                <a:solidFill>
                  <a:srgbClr val="171616"/>
                </a:solidFill>
                <a:latin typeface="Inter"/>
              </a:rPr>
              <a:t>  category (known_cve / heuristic), CVE, CWE, severity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exploit_available / exploit_refs</a:t>
            </a:r>
            <a:r>
              <a:rPr sz="1200">
                <a:solidFill>
                  <a:srgbClr val="171616"/>
                </a:solidFill>
                <a:latin typeface="Inter"/>
              </a:rPr>
              <a:t>  EDB-ID + title from searchsploit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worst.severity escalation</a:t>
            </a:r>
            <a:r>
              <a:rPr sz="1200">
                <a:solidFill>
                  <a:srgbClr val="171616"/>
                </a:solidFill>
                <a:latin typeface="Inter"/>
              </a:rPr>
              <a:t>  CRITICAL when a public exploit exists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434840"/>
            <a:ext cx="4297680" cy="155448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4434840"/>
            <a:ext cx="4297680" cy="27940"/>
          </a:xfrm>
          <a:prstGeom prst="rect">
            <a:avLst/>
          </a:prstGeom>
          <a:solidFill>
            <a:srgbClr val="167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6177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67249"/>
                </a:solidFill>
                <a:latin typeface="Inter"/>
              </a:rPr>
              <a:t>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965192"/>
            <a:ext cx="3840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Patch or replace services matched to a CVE — prioritise ones with a public exploit. Disable insecure-by-design protocols in favour of encrypted/authenticated equivalents (SSH, SFTP, VNC-over-SSH).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Weak TLS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38679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CWE: CWE-327 (+ 295/298/326/125)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35424" y="1298448"/>
            <a:ext cx="20802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OWASP: A02:2021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0276" y="1298448"/>
            <a:ext cx="2395728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SEVERITY: CRITICAL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9340596" y="1298448"/>
            <a:ext cx="2080260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CVSS: up to 9.8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71616"/>
                </a:solidFill>
                <a:latin typeface="Inter"/>
              </a:rPr>
              <a:t>Detection is delegated to SSLyze — every check is a passive/read-only TLS handshake, the same technique any TLS client library uses to negotiate a connection; nothing here sends a payload meant to crash or exploit anything.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DETECTION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Protocol &amp; cipher enumeration</a:t>
            </a:r>
            <a:r>
              <a:rPr sz="1350">
                <a:solidFill>
                  <a:srgbClr val="171616"/>
                </a:solidFill>
                <a:latin typeface="Inter"/>
              </a:rPr>
              <a:t>  attempts SSL 2.0 through TLS 1.3; any accepted SSLv2/SSLv3/TLSv1.0/1.1 or NULL/EXPORT/ANON/RC4/DES/MD5 cipher is flagged by severity.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Certificate validation</a:t>
            </a:r>
            <a:r>
              <a:rPr sz="1350">
                <a:solidFill>
                  <a:srgbClr val="171616"/>
                </a:solidFill>
                <a:latin typeface="Inter"/>
              </a:rPr>
              <a:t>  checks trust chain, expiry, SHA-1 signatures, and undersized keys (RSA &lt;2048 bits, EC &lt;224 bits).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Named vulnerability probes</a:t>
            </a:r>
            <a:r>
              <a:rPr sz="1350">
                <a:solidFill>
                  <a:srgbClr val="171616"/>
                </a:solidFill>
                <a:latin typeface="Inter"/>
              </a:rPr>
              <a:t>  read-only scripted checks for Heartbleed (CVE-2014-0160), ROBOT, OpenSSL CCS injection (CVE-2014-0224), and insecure renegotiation (CVE-2009-3555).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Verdict</a:t>
            </a:r>
            <a:r>
              <a:rPr sz="1350">
                <a:solidFill>
                  <a:srgbClr val="171616"/>
                </a:solidFill>
                <a:latin typeface="Inter"/>
              </a:rPr>
              <a:t>  worst finding across all three categories drives severity — CRITICAL for Heartbleed/ROBOT/SSLv2-3, scaling down to MEDIUM/INFO for lesser weaknesses.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5 OF 5 —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Weak TLS Configuration — Code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backend/app/scanners/weak_tls.py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675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67512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6172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_WEAK_CIPHER_MARKERS = [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("NULL", "CRITICAL"), ("EXPORT", "CRITICAL"),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("ANON", "CRITICAL"), ("RC4", "HIGH"),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("DES", "HIGH"), ("MD5", "MEDIUM"),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]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classify_vulnerabilities(obs):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obs.heartbleed_vulnerable: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yield Finding("Heartbleed", cwe="CWE-125",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cve="CVE-2014-0160", severity="CRITICAL")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obs.robot_vulnerable: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yield Finding("ROBOT", cwe="CWE-203",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severity="CRITICAL")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EVIDENCE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4884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accepted_protocols</a:t>
            </a:r>
            <a:r>
              <a:rPr sz="1200">
                <a:solidFill>
                  <a:srgbClr val="171616"/>
                </a:solidFill>
                <a:latin typeface="Inter"/>
              </a:rPr>
              <a:t>  protocol label → accepted cipher suite names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certificate.*</a:t>
            </a:r>
            <a:r>
              <a:rPr sz="1200">
                <a:solidFill>
                  <a:srgbClr val="171616"/>
                </a:solidFill>
                <a:latin typeface="Inter"/>
              </a:rPr>
              <a:t>  trusted / expired / sha1-signed / key type &amp; bits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vulnerabilities.*</a:t>
            </a:r>
            <a:r>
              <a:rPr sz="1200">
                <a:solidFill>
                  <a:srgbClr val="171616"/>
                </a:solidFill>
                <a:latin typeface="Inter"/>
              </a:rPr>
              <a:t>  heartbleed / ccs_injection / robot / renegotiation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worst finding</a:t>
            </a:r>
            <a:r>
              <a:rPr sz="1200">
                <a:solidFill>
                  <a:srgbClr val="171616"/>
                </a:solidFill>
                <a:latin typeface="Inter"/>
              </a:rPr>
              <a:t>  single CWE/CVE driving the overall severity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434840"/>
            <a:ext cx="4297680" cy="155448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4434840"/>
            <a:ext cx="4297680" cy="27940"/>
          </a:xfrm>
          <a:prstGeom prst="rect">
            <a:avLst/>
          </a:prstGeom>
          <a:solidFill>
            <a:srgbClr val="167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6177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67249"/>
                </a:solidFill>
                <a:latin typeface="Inter"/>
              </a:rPr>
              <a:t>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965192"/>
            <a:ext cx="3840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Disable SSLv2/SSLv3/TLSv1.0/1.1 and weak ciphers, keep TLS 1.2+ with AEAD ciphers only; replace self-signed/expired/SHA-1 certs and undersized keys; patch Heartbleed/ROBOT/CCS; enable secure renegotiation.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Five Detectors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Consistent structure, class-specific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11201400" cy="502920"/>
          </a:xfrm>
          <a:prstGeom prst="rect">
            <a:avLst/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28800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5B5754"/>
                </a:solidFill>
                <a:latin typeface="Inter"/>
              </a:rPr>
              <a:t>VULNERABILITY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2112" y="182880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5B5754"/>
                </a:solidFill>
                <a:latin typeface="Inter"/>
              </a:rPr>
              <a:t>CWE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3672" y="1828800"/>
            <a:ext cx="960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5B5754"/>
                </a:solidFill>
                <a:latin typeface="Inter"/>
              </a:rPr>
              <a:t>OWASP '21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8112" y="182880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5B5754"/>
                </a:solidFill>
                <a:latin typeface="Inter"/>
              </a:rPr>
              <a:t>PROOF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48672" y="182880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5B5754"/>
                </a:solidFill>
                <a:latin typeface="Inter"/>
              </a:rPr>
              <a:t>MAX SEVERITY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31720"/>
            <a:ext cx="11201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331720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OS Command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2331720"/>
            <a:ext cx="777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CWE-78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2331720"/>
            <a:ext cx="960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2331720"/>
            <a:ext cx="4206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Marker echo + blind timing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21240" y="2487168"/>
            <a:ext cx="1417320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spc="60">
                <a:solidFill>
                  <a:srgbClr val="FFFFFF"/>
                </a:solidFill>
                <a:latin typeface="Inter"/>
              </a:rPr>
              <a:t>CRITICAL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2971800"/>
            <a:ext cx="1120140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2971800"/>
            <a:ext cx="11201400" cy="640080"/>
          </a:xfrm>
          <a:prstGeom prst="rect">
            <a:avLst/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971800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Weak 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2112" y="2971800"/>
            <a:ext cx="777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CWE-307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3672" y="2971800"/>
            <a:ext cx="960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8112" y="2971800"/>
            <a:ext cx="4206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Lockout absence + enumeration oracle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3127248"/>
            <a:ext cx="1417320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spc="60">
                <a:solidFill>
                  <a:srgbClr val="FFFFFF"/>
                </a:solidFill>
                <a:latin typeface="Inter"/>
              </a:rPr>
              <a:t>HIGH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3611880"/>
            <a:ext cx="1120140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02920" y="3611880"/>
            <a:ext cx="11201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3611880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Sensitive File Exposure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3611880"/>
            <a:ext cx="777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CWE-538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3611880"/>
            <a:ext cx="960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3611880"/>
            <a:ext cx="4206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Baseline-differential path probe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3767328"/>
            <a:ext cx="1417320" cy="292608"/>
          </a:xfrm>
          <a:prstGeom prst="rect">
            <a:avLst/>
          </a:prstGeom>
          <a:solidFill>
            <a:srgbClr val="FF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spc="60">
                <a:solidFill>
                  <a:srgbClr val="76180E"/>
                </a:solidFill>
                <a:latin typeface="Inter"/>
              </a:rPr>
              <a:t>MEDIUM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4251960"/>
            <a:ext cx="1120140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02920" y="4251960"/>
            <a:ext cx="11201400" cy="640080"/>
          </a:xfrm>
          <a:prstGeom prst="rect">
            <a:avLst/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4251960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Vulnerable Services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82112" y="4251960"/>
            <a:ext cx="777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CWE-1104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33672" y="4251960"/>
            <a:ext cx="960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68112" y="4251960"/>
            <a:ext cx="4206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nmap fingerprint + NVD CVE + Exploit-DB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40" y="4407408"/>
            <a:ext cx="1417320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spc="60">
                <a:solidFill>
                  <a:srgbClr val="FFFFFF"/>
                </a:solidFill>
                <a:latin typeface="Inter"/>
              </a:rPr>
              <a:t>CRITICAL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4892040"/>
            <a:ext cx="1120140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02920" y="4892040"/>
            <a:ext cx="11201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4892040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Weak TLS Configuration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82112" y="4892040"/>
            <a:ext cx="777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CWE-327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33672" y="4892040"/>
            <a:ext cx="960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68112" y="4892040"/>
            <a:ext cx="4206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SSLyze protocol/cipher/cert/CVE probes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21240" y="5047488"/>
            <a:ext cx="1417320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spc="60">
                <a:solidFill>
                  <a:srgbClr val="FFFFFF"/>
                </a:solidFill>
                <a:latin typeface="Inter"/>
              </a:rPr>
              <a:t>CRITICAL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5532120"/>
            <a:ext cx="1120140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02920" y="1828800"/>
            <a:ext cx="11201400" cy="3703320"/>
          </a:xfrm>
          <a:prstGeom prst="rect">
            <a:avLst/>
          </a:prstGeom>
          <a:noFill/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16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450" b="1">
                <a:solidFill>
                  <a:srgbClr val="D62D18"/>
                </a:solidFill>
                <a:latin typeface="Inter"/>
              </a:rPr>
              <a:t>▸  Evidence over assumption</a:t>
            </a:r>
            <a:r>
              <a:rPr sz="1450">
                <a:solidFill>
                  <a:srgbClr val="171616"/>
                </a:solidFill>
                <a:latin typeface="Inter"/>
              </a:rPr>
              <a:t>  Every one of the five detectors requires a positive, observable proof — a reflected marker, a timing delay, an NVD-confirmed CVE, a public exploit hit — before reporting a finding.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450" b="1">
                <a:solidFill>
                  <a:srgbClr val="D62D18"/>
                </a:solidFill>
                <a:latin typeface="Inter"/>
              </a:rPr>
              <a:t>▸  One architecture, five proofs</a:t>
            </a:r>
            <a:r>
              <a:rPr sz="1450">
                <a:solidFill>
                  <a:srgbClr val="171616"/>
                </a:solidFill>
                <a:latin typeface="Inter"/>
              </a:rPr>
              <a:t>  All detectors share the same BaseDetector/ScanContext/DetectorResult contract, generic-defaults → lab-preset → explicit-config layering, and pure/testable classify() decision functions.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450" b="1">
                <a:solidFill>
                  <a:srgbClr val="D62D18"/>
                </a:solidFill>
                <a:latin typeface="Inter"/>
              </a:rPr>
              <a:t>▸  Safety-conscious by design</a:t>
            </a:r>
            <a:r>
              <a:rPr sz="1450">
                <a:solidFill>
                  <a:srgbClr val="171616"/>
                </a:solidFill>
                <a:latin typeface="Inter"/>
              </a:rPr>
              <a:t>  Synthetic credentials only, read-only nmap NSE categories, exploit metadata never executed, and small fixed probe budgets keep every check safe to run against real targets.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450" b="1">
                <a:solidFill>
                  <a:srgbClr val="D62D18"/>
                </a:solidFill>
                <a:latin typeface="Inter"/>
              </a:rPr>
              <a:t>▸  Broad OWASP Top 10 coverage</a:t>
            </a:r>
            <a:r>
              <a:rPr sz="1450">
                <a:solidFill>
                  <a:srgbClr val="171616"/>
                </a:solidFill>
                <a:latin typeface="Inter"/>
              </a:rPr>
              <a:t>  Injection (A03), Authentication Failures (A07), Security Misconfiguration (A05), Vulnerable Components (A06), and Cryptographic Failures (A02) are all represented.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D62D18"/>
                </a:solidFill>
                <a:latin typeface="Inter"/>
              </a:rPr>
              <a:t>Thank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